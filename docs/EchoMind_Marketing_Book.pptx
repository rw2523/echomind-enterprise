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2590800"/>
            <a:ext cx="10908792" cy="1310640"/>
          </a:xfrm>
          <a:prstGeom prst="rect">
            <a:avLst/>
          </a:prstGeom>
          <a:noFill/>
        </p:spPr>
        <p:txBody>
          <a:bodyPr wrap="square" anchor="t">
            <a:spAutoFit/>
          </a:bodyPr>
          <a:lstStyle/>
          <a:p>
            <a:pPr algn="ctr"/>
            <a:r>
              <a:rPr sz="4000" b="1">
                <a:solidFill>
                  <a:srgbClr val="FFFFFF"/>
                </a:solidFill>
                <a:latin typeface="Helvetica-Bold"/>
              </a:rPr>
              <a:t>EchoMind Enterprise — The Private AI Platform</a:t>
            </a:r>
          </a:p>
        </p:txBody>
      </p:sp>
      <p:sp>
        <p:nvSpPr>
          <p:cNvPr id="3" name="Rectangle 2"/>
          <p:cNvSpPr/>
          <p:nvPr/>
        </p:nvSpPr>
        <p:spPr>
          <a:xfrm>
            <a:off x="4905756" y="4011168"/>
            <a:ext cx="2377440" cy="548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67200"/>
            <a:ext cx="10908792" cy="914400"/>
          </a:xfrm>
          <a:prstGeom prst="rect">
            <a:avLst/>
          </a:prstGeom>
          <a:noFill/>
        </p:spPr>
        <p:txBody>
          <a:bodyPr wrap="square">
            <a:spAutoFit/>
          </a:bodyPr>
          <a:lstStyle/>
          <a:p>
            <a:pPr algn="ctr"/>
            <a:r>
              <a:rPr sz="2000" b="0">
                <a:solidFill>
                  <a:srgbClr val="FFFFFF"/>
                </a:solidFill>
              </a:rPr>
              <a:t>A Secure, On-Premises AI Platform for Organizations</a:t>
            </a:r>
          </a:p>
        </p:txBody>
      </p:sp>
      <p:sp>
        <p:nvSpPr>
          <p:cNvPr id="5" name="TextBox 4"/>
          <p:cNvSpPr txBox="1"/>
          <p:nvPr/>
        </p:nvSpPr>
        <p:spPr>
          <a:xfrm>
            <a:off x="640080" y="5337048"/>
            <a:ext cx="10908792" cy="548640"/>
          </a:xfrm>
          <a:prstGeom prst="rect">
            <a:avLst/>
          </a:prstGeom>
          <a:noFill/>
        </p:spPr>
        <p:txBody>
          <a:bodyPr wrap="square">
            <a:spAutoFit/>
          </a:bodyPr>
          <a:lstStyle/>
          <a:p>
            <a:pPr algn="ctr"/>
            <a:r>
              <a:rPr sz="1300" b="1">
                <a:solidFill>
                  <a:srgbClr val="22D3EE"/>
                </a:solidFill>
              </a:rPr>
              <a:t>Ajace AI   ·   Marketing Playbook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Agenda</a:t>
            </a:r>
          </a:p>
        </p:txBody>
      </p:sp>
      <p:sp>
        <p:nvSpPr>
          <p:cNvPr id="5" name="TextBox 4"/>
          <p:cNvSpPr txBox="1"/>
          <p:nvPr/>
        </p:nvSpPr>
        <p:spPr>
          <a:xfrm>
            <a:off x="640080" y="1417320"/>
            <a:ext cx="10908792" cy="4846320"/>
          </a:xfrm>
          <a:prstGeom prst="rect">
            <a:avLst/>
          </a:prstGeom>
          <a:noFill/>
        </p:spPr>
        <p:txBody>
          <a:bodyPr wrap="square">
            <a:spAutoFit/>
          </a:bodyPr>
          <a:lstStyle/>
          <a:p>
            <a:pPr>
              <a:spcAft>
                <a:spcPts val="1000"/>
              </a:spcAft>
            </a:pPr>
            <a:r>
              <a:rPr sz="2000" b="1">
                <a:solidFill>
                  <a:srgbClr val="22D3EE"/>
                </a:solidFill>
              </a:rPr>
              <a:t>01   </a:t>
            </a:r>
            <a:r>
              <a:rPr sz="2000" b="1">
                <a:solidFill>
                  <a:srgbClr val="0F172A"/>
                </a:solidFill>
              </a:rPr>
              <a:t>EchoMind Enterprise — The Private AI Platform</a:t>
            </a:r>
          </a:p>
          <a:p>
            <a:pPr>
              <a:spcAft>
                <a:spcPts val="1000"/>
              </a:spcAft>
            </a:pPr>
            <a:r>
              <a:rPr sz="2000" b="1">
                <a:solidFill>
                  <a:srgbClr val="22D3EE"/>
                </a:solidFill>
              </a:rPr>
              <a:t>02   </a:t>
            </a:r>
            <a:r>
              <a:rPr sz="2000" b="1">
                <a:solidFill>
                  <a:srgbClr val="0F172A"/>
                </a:solidFill>
              </a:rPr>
              <a:t>The Problem: AI You Cannot Send to the Cloud</a:t>
            </a:r>
          </a:p>
        </p:txBody>
      </p:sp>
      <p:sp>
        <p:nvSpPr>
          <p:cNvPr id="6" name="TextBox 5"/>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7" name="TextBox 6"/>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1554480"/>
            <a:ext cx="10908792" cy="1828800"/>
          </a:xfrm>
          <a:prstGeom prst="rect">
            <a:avLst/>
          </a:prstGeom>
          <a:noFill/>
        </p:spPr>
        <p:txBody>
          <a:bodyPr wrap="square" anchor="ctr">
            <a:spAutoFit/>
          </a:bodyPr>
          <a:lstStyle/>
          <a:p>
            <a:pPr algn="l"/>
            <a:r>
              <a:rPr sz="12000" b="1">
                <a:solidFill>
                  <a:srgbClr val="22D3EE"/>
                </a:solidFill>
                <a:latin typeface="Helvetica-Bold"/>
              </a:rPr>
              <a:t>01</a:t>
            </a:r>
          </a:p>
        </p:txBody>
      </p:sp>
      <p:sp>
        <p:nvSpPr>
          <p:cNvPr id="3" name="Rectangle 2"/>
          <p:cNvSpPr/>
          <p:nvPr/>
        </p:nvSpPr>
        <p:spPr>
          <a:xfrm>
            <a:off x="640080" y="3703320"/>
            <a:ext cx="219456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86200"/>
            <a:ext cx="10908792" cy="1645920"/>
          </a:xfrm>
          <a:prstGeom prst="rect">
            <a:avLst/>
          </a:prstGeom>
          <a:noFill/>
        </p:spPr>
        <p:txBody>
          <a:bodyPr wrap="square" anchor="t">
            <a:spAutoFit/>
          </a:bodyPr>
          <a:lstStyle/>
          <a:p>
            <a:pPr algn="l"/>
            <a:r>
              <a:rPr sz="3600" b="1">
                <a:solidFill>
                  <a:srgbClr val="FFFFFF"/>
                </a:solidFill>
                <a:latin typeface="Helvetica-Bold"/>
              </a:rPr>
              <a:t>EchoMind Enterprise — The Private AI Platform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EchoMind Enterprise — The Private AI Platform</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4</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E293B"/>
                </a:solidFill>
              </a:rPr>
              <a:t>EchoMind Enterprise is a private, on-premises AI platform designed for organizations that require the highest level of data security and control. By running on a customer's own NVIDIA GPU hardware, the platform provides a secure and reliable environment for modern AI capabilities.</a:t>
            </a:r>
          </a:p>
        </p:txBody>
      </p:sp>
      <p:sp>
        <p:nvSpPr>
          <p:cNvPr id="8" name="TextBox 7"/>
          <p:cNvSpPr txBox="1"/>
          <p:nvPr/>
        </p:nvSpPr>
        <p:spPr>
          <a:xfrm>
            <a:off x="640080" y="2518664"/>
            <a:ext cx="10908792" cy="1267968"/>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Chat and conversation intelligence</a:t>
            </a:r>
          </a:p>
          <a:p>
            <a:pPr marL="274320" indent="-228600">
              <a:spcAft>
                <a:spcPts val="500"/>
              </a:spcAft>
              <a:buClr>
                <a:srgbClr val="22D3EE"/>
              </a:buClr>
              <a:buFont typeface="Arial"/>
              <a:buChar char="▪"/>
            </a:pPr>
            <a:r>
              <a:rPr sz="1500">
                <a:solidFill>
                  <a:srgbClr val="1E293B"/>
                </a:solidFill>
              </a:rPr>
              <a:t>Live meeting intelligence</a:t>
            </a:r>
          </a:p>
          <a:p>
            <a:pPr marL="274320" indent="-228600">
              <a:spcAft>
                <a:spcPts val="500"/>
              </a:spcAft>
              <a:buClr>
                <a:srgbClr val="22D3EE"/>
              </a:buClr>
              <a:buFont typeface="Arial"/>
              <a:buChar char="▪"/>
            </a:pPr>
            <a:r>
              <a:rPr sz="1500">
                <a:solidFill>
                  <a:srgbClr val="1E293B"/>
                </a:solidFill>
              </a:rPr>
              <a:t>Voice and speech recognition</a:t>
            </a:r>
          </a:p>
          <a:p>
            <a:pPr marL="274320" indent="-228600">
              <a:spcAft>
                <a:spcPts val="500"/>
              </a:spcAft>
              <a:buClr>
                <a:srgbClr val="22D3EE"/>
              </a:buClr>
              <a:buFont typeface="Arial"/>
              <a:buChar char="▪"/>
            </a:pPr>
            <a:r>
              <a:rPr sz="1500">
                <a:solidFill>
                  <a:srgbClr val="1E293B"/>
                </a:solidFill>
              </a:rPr>
              <a:t>Document generation and content creation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EchoMind Enterprise — The Private AI Platform</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5</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EchoMind Enterprise — The Private AI Platform</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6</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1554480"/>
            <a:ext cx="10908792" cy="1828800"/>
          </a:xfrm>
          <a:prstGeom prst="rect">
            <a:avLst/>
          </a:prstGeom>
          <a:noFill/>
        </p:spPr>
        <p:txBody>
          <a:bodyPr wrap="square" anchor="ctr">
            <a:spAutoFit/>
          </a:bodyPr>
          <a:lstStyle/>
          <a:p>
            <a:pPr algn="l"/>
            <a:r>
              <a:rPr sz="12000" b="1">
                <a:solidFill>
                  <a:srgbClr val="22D3EE"/>
                </a:solidFill>
                <a:latin typeface="Helvetica-Bold"/>
              </a:rPr>
              <a:t>02</a:t>
            </a:r>
          </a:p>
        </p:txBody>
      </p:sp>
      <p:sp>
        <p:nvSpPr>
          <p:cNvPr id="3" name="Rectangle 2"/>
          <p:cNvSpPr/>
          <p:nvPr/>
        </p:nvSpPr>
        <p:spPr>
          <a:xfrm>
            <a:off x="640080" y="3703320"/>
            <a:ext cx="219456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86200"/>
            <a:ext cx="10908792" cy="1645920"/>
          </a:xfrm>
          <a:prstGeom prst="rect">
            <a:avLst/>
          </a:prstGeom>
          <a:noFill/>
        </p:spPr>
        <p:txBody>
          <a:bodyPr wrap="square" anchor="t">
            <a:spAutoFit/>
          </a:bodyPr>
          <a:lstStyle/>
          <a:p>
            <a:pPr algn="l"/>
            <a:r>
              <a:rPr sz="3600" b="1">
                <a:solidFill>
                  <a:srgbClr val="FFFFFF"/>
                </a:solidFill>
                <a:latin typeface="Helvetica-Bold"/>
              </a:rPr>
              <a:t>The Problem: AI You Cannot Send to the Cloud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The Problem: AI You Cannot Send to the Cloud</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8</a:t>
            </a:r>
          </a:p>
        </p:txBody>
      </p:sp>
      <p:sp>
        <p:nvSpPr>
          <p:cNvPr id="7" name="TextBox 6"/>
          <p:cNvSpPr txBox="1"/>
          <p:nvPr/>
        </p:nvSpPr>
        <p:spPr>
          <a:xfrm>
            <a:off x="640080" y="1417320"/>
            <a:ext cx="10908792" cy="1533143"/>
          </a:xfrm>
          <a:prstGeom prst="rect">
            <a:avLst/>
          </a:prstGeom>
          <a:noFill/>
        </p:spPr>
        <p:txBody>
          <a:bodyPr wrap="square" anchor="t">
            <a:spAutoFit/>
          </a:bodyPr>
          <a:lstStyle/>
          <a:p>
            <a:pPr algn="l"/>
            <a:r>
              <a:rPr sz="1600" b="0">
                <a:solidFill>
                  <a:srgbClr val="1E293B"/>
                </a:solidFill>
              </a:rPr>
              <a:t>Cloud AI assistants pose a significant risk to organizations that handle sensitive data. These assistants quietly send prompts, files, and recordings to outside vendors, which can compromise confidentiality and compliance. For instance, a cloud AI assistant may transmit sensitive information, such as meeting notes or customer data, to a third-party server without the organization's knowledge or consent.</a:t>
            </a:r>
          </a:p>
        </p:txBody>
      </p:sp>
      <p:sp>
        <p:nvSpPr>
          <p:cNvPr id="8" name="TextBox 7"/>
          <p:cNvSpPr txBox="1"/>
          <p:nvPr/>
        </p:nvSpPr>
        <p:spPr>
          <a:xfrm>
            <a:off x="640080" y="3014472"/>
            <a:ext cx="10908792" cy="962406"/>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Sensitive data is transmitted to outside vendors</a:t>
            </a:r>
          </a:p>
          <a:p>
            <a:pPr marL="274320" indent="-228600">
              <a:spcAft>
                <a:spcPts val="500"/>
              </a:spcAft>
              <a:buClr>
                <a:srgbClr val="22D3EE"/>
              </a:buClr>
              <a:buFont typeface="Arial"/>
              <a:buChar char="▪"/>
            </a:pPr>
            <a:r>
              <a:rPr sz="1500">
                <a:solidFill>
                  <a:srgbClr val="1E293B"/>
                </a:solidFill>
              </a:rPr>
              <a:t>Compliance and confidentiality are compromised</a:t>
            </a:r>
          </a:p>
          <a:p>
            <a:pPr marL="274320" indent="-228600">
              <a:spcAft>
                <a:spcPts val="500"/>
              </a:spcAft>
              <a:buClr>
                <a:srgbClr val="22D3EE"/>
              </a:buClr>
              <a:buFont typeface="Arial"/>
              <a:buChar char="▪"/>
            </a:pPr>
            <a:r>
              <a:rPr sz="1500">
                <a:solidFill>
                  <a:srgbClr val="1E293B"/>
                </a:solidFill>
              </a:rPr>
              <a:t>Organizations risk data breaches and reputational damage</a:t>
            </a:r>
          </a:p>
        </p:txBody>
      </p:sp>
      <p:sp>
        <p:nvSpPr>
          <p:cNvPr id="9" name="TextBox 8"/>
          <p:cNvSpPr txBox="1"/>
          <p:nvPr/>
        </p:nvSpPr>
        <p:spPr>
          <a:xfrm>
            <a:off x="640080" y="4040886"/>
            <a:ext cx="10908792" cy="1037335"/>
          </a:xfrm>
          <a:prstGeom prst="rect">
            <a:avLst/>
          </a:prstGeom>
          <a:noFill/>
        </p:spPr>
        <p:txBody>
          <a:bodyPr wrap="square" anchor="t">
            <a:spAutoFit/>
          </a:bodyPr>
          <a:lstStyle/>
          <a:p>
            <a:pPr algn="l"/>
            <a:r>
              <a:rPr sz="1600" b="0">
                <a:solidFill>
                  <a:srgbClr val="1E293B"/>
                </a:solidFill>
              </a:rPr>
              <a:t>EchoMind Enterprise solves this problem by providing a private, on-premises AI platform that runs entirely on the customer's own NVIDIA GPU hardware. This means that all AI processing occurs locally, without the need for internet connectivity or third-party AI APIs.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300" b="1">
                <a:solidFill>
                  <a:srgbClr val="0E7490"/>
                </a:solidFill>
                <a:latin typeface="Helvetica-Bold"/>
              </a:rPr>
              <a:t>Comparison of Cloud AI Assistants and EchoMind Enterprise</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9</a:t>
            </a:r>
          </a:p>
        </p:txBody>
      </p:sp>
      <p:graphicFrame>
        <p:nvGraphicFramePr>
          <p:cNvPr id="7" name="Table 6"/>
          <p:cNvGraphicFramePr>
            <a:graphicFrameLocks noGrp="1"/>
          </p:cNvGraphicFramePr>
          <p:nvPr/>
        </p:nvGraphicFramePr>
        <p:xfrm>
          <a:off x="640080" y="1417320"/>
          <a:ext cx="10908792" cy="2011680"/>
        </p:xfrm>
        <a:graphic>
          <a:graphicData uri="http://schemas.openxmlformats.org/drawingml/2006/table">
            <a:tbl>
              <a:tblPr bandRow="1">
                <a:tableStyleId>{5C22544A-7EE6-4342-B048-85BDC9FD1C3A}</a:tableStyleId>
              </a:tblPr>
              <a:tblGrid>
                <a:gridCol w="5454396"/>
                <a:gridCol w="5454396"/>
              </a:tblGrid>
              <a:tr h="502920">
                <a:tc>
                  <a:txBody>
                    <a:bodyPr wrap="square"/>
                    <a:lstStyle/>
                    <a:p>
                      <a:pPr algn="l"/>
                      <a:r>
                        <a:rPr sz="1100" b="1">
                          <a:solidFill>
                            <a:srgbClr val="FFFFFF"/>
                          </a:solidFill>
                        </a:rPr>
                        <a:t>Cloud AI Assistants</a:t>
                      </a:r>
                    </a:p>
                  </a:txBody>
                  <a:tcPr marL="82296" marR="82296" marT="36576" marB="36576" anchor="ctr">
                    <a:solidFill>
                      <a:srgbClr val="0EA5B7"/>
                    </a:solidFill>
                  </a:tcPr>
                </a:tc>
                <a:tc>
                  <a:txBody>
                    <a:bodyPr wrap="square"/>
                    <a:lstStyle/>
                    <a:p>
                      <a:pPr algn="l"/>
                      <a:r>
                        <a:rPr sz="1100" b="1">
                          <a:solidFill>
                            <a:srgbClr val="FFFFFF"/>
                          </a:solidFill>
                        </a:rPr>
                        <a:t>EchoMind Enterprise</a:t>
                      </a:r>
                    </a:p>
                  </a:txBody>
                  <a:tcPr marL="82296" marR="82296" marT="36576" marB="36576" anchor="ctr">
                    <a:solidFill>
                      <a:srgbClr val="0EA5B7"/>
                    </a:solidFill>
                  </a:tcPr>
                </a:tc>
              </a:tr>
              <a:tr h="502920">
                <a:tc>
                  <a:txBody>
                    <a:bodyPr wrap="square"/>
                    <a:lstStyle/>
                    <a:p>
                      <a:pPr algn="l"/>
                      <a:r>
                        <a:rPr sz="1000" b="0">
                          <a:solidFill>
                            <a:srgbClr val="1E293B"/>
                          </a:solidFill>
                        </a:rPr>
                        <a:t>Send prompts, files, and recordings to outside vendors</a:t>
                      </a:r>
                    </a:p>
                  </a:txBody>
                  <a:tcPr marL="82296" marR="82296" marT="36576" marB="36576" anchor="ctr">
                    <a:solidFill>
                      <a:srgbClr val="F1F5F9"/>
                    </a:solidFill>
                  </a:tcPr>
                </a:tc>
                <a:tc>
                  <a:txBody>
                    <a:bodyPr wrap="square"/>
                    <a:lstStyle/>
                    <a:p>
                      <a:pPr algn="l"/>
                      <a:r>
                        <a:rPr sz="1000" b="0">
                          <a:solidFill>
                            <a:srgbClr val="1E293B"/>
                          </a:solidFill>
                        </a:rPr>
                        <a:t>Run entirely on customer's own NVIDIA GPU hardware</a:t>
                      </a:r>
                    </a:p>
                  </a:txBody>
                  <a:tcPr marL="82296" marR="82296" marT="36576" marB="36576" anchor="ctr">
                    <a:solidFill>
                      <a:srgbClr val="F1F5F9"/>
                    </a:solidFill>
                  </a:tcPr>
                </a:tc>
              </a:tr>
              <a:tr h="502920">
                <a:tc>
                  <a:txBody>
                    <a:bodyPr wrap="square"/>
                    <a:lstStyle/>
                    <a:p>
                      <a:pPr algn="l"/>
                      <a:r>
                        <a:rPr sz="1000" b="0">
                          <a:solidFill>
                            <a:srgbClr val="1E293B"/>
                          </a:solidFill>
                        </a:rPr>
                        <a:t>Risk data breaches and reputational damage</a:t>
                      </a:r>
                    </a:p>
                  </a:txBody>
                  <a:tcPr marL="82296" marR="82296" marT="36576" marB="36576" anchor="ctr">
                    <a:solidFill>
                      <a:srgbClr val="F8FAFC"/>
                    </a:solidFill>
                  </a:tcPr>
                </a:tc>
                <a:tc>
                  <a:txBody>
                    <a:bodyPr wrap="square"/>
                    <a:lstStyle/>
                    <a:p>
                      <a:pPr algn="l"/>
                      <a:r>
                        <a:rPr sz="1000" b="0">
                          <a:solidFill>
                            <a:srgbClr val="1E293B"/>
                          </a:solidFill>
                        </a:rPr>
                        <a:t>Maintain confidentiality and compliance</a:t>
                      </a:r>
                    </a:p>
                  </a:txBody>
                  <a:tcPr marL="82296" marR="82296" marT="36576" marB="36576" anchor="ctr">
                    <a:solidFill>
                      <a:srgbClr val="F8FAFC"/>
                    </a:solidFill>
                  </a:tcPr>
                </a:tc>
              </a:tr>
              <a:tr h="502920">
                <a:tc>
                  <a:txBody>
                    <a:bodyPr wrap="square"/>
                    <a:lstStyle/>
                    <a:p>
                      <a:pPr algn="l"/>
                      <a:r>
                        <a:rPr sz="1000" b="0">
                          <a:solidFill>
                            <a:srgbClr val="1E293B"/>
                          </a:solidFill>
                        </a:rPr>
                        <a:t>Compromise compliance and confidentiality</a:t>
                      </a:r>
                    </a:p>
                  </a:txBody>
                  <a:tcPr marL="82296" marR="82296" marT="36576" marB="36576" anchor="ctr">
                    <a:solidFill>
                      <a:srgbClr val="F1F5F9"/>
                    </a:solidFill>
                  </a:tcPr>
                </a:tc>
                <a:tc>
                  <a:txBody>
                    <a:bodyPr wrap="square"/>
                    <a:lstStyle/>
                    <a:p>
                      <a:pPr algn="l"/>
                      <a:r>
                        <a:rPr sz="1000" b="0">
                          <a:solidFill>
                            <a:srgbClr val="1E293B"/>
                          </a:solidFill>
                        </a:rPr>
                        <a:t>Ensure data sovereignty and control</a:t>
                      </a:r>
                    </a:p>
                  </a:txBody>
                  <a:tcPr marL="82296" marR="82296" marT="36576" marB="36576" anchor="ct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The Problem: AI You Cannot Send to the Cloud</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10</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What EchoMind Enterprise Is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11</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E293B"/>
                </a:solidFill>
              </a:rPr>
              <a:t>EchoMind Enterprise is a comprehensive private AI platform that offers five distinct modules to cater to various organizational needs. Each module is designed to provide a seamless and secure experience, ensuring that sensitive data remains within the organization's premises.</a:t>
            </a:r>
          </a:p>
        </p:txBody>
      </p:sp>
      <p:sp>
        <p:nvSpPr>
          <p:cNvPr id="8" name="TextBox 7"/>
          <p:cNvSpPr txBox="1"/>
          <p:nvPr/>
        </p:nvSpPr>
        <p:spPr>
          <a:xfrm>
            <a:off x="640080" y="2518664"/>
            <a:ext cx="10908792" cy="1573530"/>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Knowledge Chat</a:t>
            </a:r>
          </a:p>
          <a:p>
            <a:pPr marL="274320" indent="-228600">
              <a:spcAft>
                <a:spcPts val="500"/>
              </a:spcAft>
              <a:buClr>
                <a:srgbClr val="22D3EE"/>
              </a:buClr>
              <a:buFont typeface="Arial"/>
              <a:buChar char="▪"/>
            </a:pPr>
            <a:r>
              <a:rPr sz="1500">
                <a:solidFill>
                  <a:srgbClr val="1E293B"/>
                </a:solidFill>
              </a:rPr>
              <a:t>Live Transcription</a:t>
            </a:r>
          </a:p>
          <a:p>
            <a:pPr marL="274320" indent="-228600">
              <a:spcAft>
                <a:spcPts val="500"/>
              </a:spcAft>
              <a:buClr>
                <a:srgbClr val="22D3EE"/>
              </a:buClr>
              <a:buFont typeface="Arial"/>
              <a:buChar char="▪"/>
            </a:pPr>
            <a:r>
              <a:rPr sz="1500">
                <a:solidFill>
                  <a:srgbClr val="1E293B"/>
                </a:solidFill>
              </a:rPr>
              <a:t>Boardroom</a:t>
            </a:r>
          </a:p>
          <a:p>
            <a:pPr marL="274320" indent="-228600">
              <a:spcAft>
                <a:spcPts val="500"/>
              </a:spcAft>
              <a:buClr>
                <a:srgbClr val="22D3EE"/>
              </a:buClr>
              <a:buFont typeface="Arial"/>
              <a:buChar char="▪"/>
            </a:pPr>
            <a:r>
              <a:rPr sz="1500">
                <a:solidFill>
                  <a:srgbClr val="1E293B"/>
                </a:solidFill>
              </a:rPr>
              <a:t>Voice Conversation</a:t>
            </a:r>
          </a:p>
          <a:p>
            <a:pPr marL="274320" indent="-228600">
              <a:spcAft>
                <a:spcPts val="500"/>
              </a:spcAft>
              <a:buClr>
                <a:srgbClr val="22D3EE"/>
              </a:buClr>
              <a:buFont typeface="Arial"/>
              <a:buChar char="▪"/>
            </a:pPr>
            <a:r>
              <a:rPr sz="1500">
                <a:solidFill>
                  <a:srgbClr val="1E293B"/>
                </a:solidFill>
              </a:rPr>
              <a:t>Document Studio</a:t>
            </a:r>
          </a:p>
        </p:txBody>
      </p:sp>
      <p:sp>
        <p:nvSpPr>
          <p:cNvPr id="9" name="TextBox 8"/>
          <p:cNvSpPr txBox="1"/>
          <p:nvPr/>
        </p:nvSpPr>
        <p:spPr>
          <a:xfrm>
            <a:off x="640080" y="4156202"/>
            <a:ext cx="10908792" cy="541528"/>
          </a:xfrm>
          <a:prstGeom prst="rect">
            <a:avLst/>
          </a:prstGeom>
          <a:noFill/>
        </p:spPr>
        <p:txBody>
          <a:bodyPr wrap="square" anchor="t">
            <a:spAutoFit/>
          </a:bodyPr>
          <a:lstStyle/>
          <a:p>
            <a:pPr algn="l"/>
            <a:r>
              <a:rPr sz="1600" b="0">
                <a:solidFill>
                  <a:srgbClr val="1E293B"/>
                </a:solidFill>
              </a:rPr>
              <a:t>These modules are the core components of the EchoMind Enterprise platform, and each one is designed to address specific use cases and requirements.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EchoMind Enterprise Modules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12</a:t>
            </a:r>
          </a:p>
        </p:txBody>
      </p:sp>
      <p:graphicFrame>
        <p:nvGraphicFramePr>
          <p:cNvPr id="7" name="Table 6"/>
          <p:cNvGraphicFramePr>
            <a:graphicFrameLocks noGrp="1"/>
          </p:cNvGraphicFramePr>
          <p:nvPr/>
        </p:nvGraphicFramePr>
        <p:xfrm>
          <a:off x="640080" y="1417320"/>
          <a:ext cx="10908792" cy="2926080"/>
        </p:xfrm>
        <a:graphic>
          <a:graphicData uri="http://schemas.openxmlformats.org/drawingml/2006/table">
            <a:tbl>
              <a:tblPr bandRow="1">
                <a:tableStyleId>{5C22544A-7EE6-4342-B048-85BDC9FD1C3A}</a:tableStyleId>
              </a:tblPr>
              <a:tblGrid>
                <a:gridCol w="5454396"/>
                <a:gridCol w="5454396"/>
              </a:tblGrid>
              <a:tr h="487680">
                <a:tc>
                  <a:txBody>
                    <a:bodyPr wrap="square"/>
                    <a:lstStyle/>
                    <a:p>
                      <a:pPr algn="l"/>
                      <a:r>
                        <a:rPr sz="1100" b="1">
                          <a:solidFill>
                            <a:srgbClr val="FFFFFF"/>
                          </a:solidFill>
                        </a:rPr>
                        <a:t>Module</a:t>
                      </a:r>
                    </a:p>
                  </a:txBody>
                  <a:tcPr marL="82296" marR="82296" marT="36576" marB="36576" anchor="ctr">
                    <a:solidFill>
                      <a:srgbClr val="0EA5B7"/>
                    </a:solidFill>
                  </a:tcPr>
                </a:tc>
                <a:tc>
                  <a:txBody>
                    <a:bodyPr wrap="square"/>
                    <a:lstStyle/>
                    <a:p>
                      <a:pPr algn="l"/>
                      <a:r>
                        <a:rPr sz="1100" b="1">
                          <a:solidFill>
                            <a:srgbClr val="FFFFFF"/>
                          </a:solidFill>
                        </a:rPr>
                        <a:t>Description</a:t>
                      </a:r>
                    </a:p>
                  </a:txBody>
                  <a:tcPr marL="82296" marR="82296" marT="36576" marB="36576" anchor="ctr">
                    <a:solidFill>
                      <a:srgbClr val="0EA5B7"/>
                    </a:solidFill>
                  </a:tcPr>
                </a:tc>
              </a:tr>
              <a:tr h="487680">
                <a:tc>
                  <a:txBody>
                    <a:bodyPr wrap="square"/>
                    <a:lstStyle/>
                    <a:p>
                      <a:pPr algn="l"/>
                      <a:r>
                        <a:rPr sz="1000" b="0">
                          <a:solidFill>
                            <a:srgbClr val="1E293B"/>
                          </a:solidFill>
                        </a:rPr>
                        <a:t>Knowledge Chat</a:t>
                      </a:r>
                    </a:p>
                  </a:txBody>
                  <a:tcPr marL="82296" marR="82296" marT="36576" marB="36576" anchor="ctr">
                    <a:solidFill>
                      <a:srgbClr val="F1F5F9"/>
                    </a:solidFill>
                  </a:tcPr>
                </a:tc>
                <a:tc>
                  <a:txBody>
                    <a:bodyPr wrap="square"/>
                    <a:lstStyle/>
                    <a:p>
                      <a:pPr algn="l"/>
                      <a:r>
                        <a:rPr sz="1000" b="0">
                          <a:solidFill>
                            <a:srgbClr val="1E293B"/>
                          </a:solidFill>
                        </a:rPr>
                        <a:t>A conversational AI that provides real-time information and insights to users</a:t>
                      </a:r>
                    </a:p>
                  </a:txBody>
                  <a:tcPr marL="82296" marR="82296" marT="36576" marB="36576" anchor="ctr">
                    <a:solidFill>
                      <a:srgbClr val="F1F5F9"/>
                    </a:solidFill>
                  </a:tcPr>
                </a:tc>
              </a:tr>
              <a:tr h="487680">
                <a:tc>
                  <a:txBody>
                    <a:bodyPr wrap="square"/>
                    <a:lstStyle/>
                    <a:p>
                      <a:pPr algn="l"/>
                      <a:r>
                        <a:rPr sz="1000" b="0">
                          <a:solidFill>
                            <a:srgbClr val="1E293B"/>
                          </a:solidFill>
                        </a:rPr>
                        <a:t>Live Transcription</a:t>
                      </a:r>
                    </a:p>
                  </a:txBody>
                  <a:tcPr marL="82296" marR="82296" marT="36576" marB="36576" anchor="ctr">
                    <a:solidFill>
                      <a:srgbClr val="F8FAFC"/>
                    </a:solidFill>
                  </a:tcPr>
                </a:tc>
                <a:tc>
                  <a:txBody>
                    <a:bodyPr wrap="square"/>
                    <a:lstStyle/>
                    <a:p>
                      <a:pPr algn="l"/>
                      <a:r>
                        <a:rPr sz="1000" b="0">
                          <a:solidFill>
                            <a:srgbClr val="1E293B"/>
                          </a:solidFill>
                        </a:rPr>
                        <a:t>A module that enables real-time transcription of audio and video content</a:t>
                      </a:r>
                    </a:p>
                  </a:txBody>
                  <a:tcPr marL="82296" marR="82296" marT="36576" marB="36576" anchor="ctr">
                    <a:solidFill>
                      <a:srgbClr val="F8FAFC"/>
                    </a:solidFill>
                  </a:tcPr>
                </a:tc>
              </a:tr>
              <a:tr h="487680">
                <a:tc>
                  <a:txBody>
                    <a:bodyPr wrap="square"/>
                    <a:lstStyle/>
                    <a:p>
                      <a:pPr algn="l"/>
                      <a:r>
                        <a:rPr sz="1000" b="0">
                          <a:solidFill>
                            <a:srgbClr val="1E293B"/>
                          </a:solidFill>
                        </a:rPr>
                        <a:t>BoardRoom</a:t>
                      </a:r>
                    </a:p>
                  </a:txBody>
                  <a:tcPr marL="82296" marR="82296" marT="36576" marB="36576" anchor="ctr">
                    <a:solidFill>
                      <a:srgbClr val="F1F5F9"/>
                    </a:solidFill>
                  </a:tcPr>
                </a:tc>
                <a:tc>
                  <a:txBody>
                    <a:bodyPr wrap="square"/>
                    <a:lstStyle/>
                    <a:p>
                      <a:pPr algn="l"/>
                      <a:r>
                        <a:rPr sz="1000" b="0">
                          <a:solidFill>
                            <a:srgbClr val="1E293B"/>
                          </a:solidFill>
                        </a:rPr>
                        <a:t>A module designed for meeting intelligence, providing insights and summaries of discussions</a:t>
                      </a:r>
                    </a:p>
                  </a:txBody>
                  <a:tcPr marL="82296" marR="82296" marT="36576" marB="36576" anchor="ctr">
                    <a:solidFill>
                      <a:srgbClr val="F1F5F9"/>
                    </a:solidFill>
                  </a:tcPr>
                </a:tc>
              </a:tr>
              <a:tr h="487680">
                <a:tc>
                  <a:txBody>
                    <a:bodyPr wrap="square"/>
                    <a:lstStyle/>
                    <a:p>
                      <a:pPr algn="l"/>
                      <a:r>
                        <a:rPr sz="1000" b="0">
                          <a:solidFill>
                            <a:srgbClr val="1E293B"/>
                          </a:solidFill>
                        </a:rPr>
                        <a:t>Voice Conversation</a:t>
                      </a:r>
                    </a:p>
                  </a:txBody>
                  <a:tcPr marL="82296" marR="82296" marT="36576" marB="36576" anchor="ctr">
                    <a:solidFill>
                      <a:srgbClr val="F8FAFC"/>
                    </a:solidFill>
                  </a:tcPr>
                </a:tc>
                <a:tc>
                  <a:txBody>
                    <a:bodyPr wrap="square"/>
                    <a:lstStyle/>
                    <a:p>
                      <a:pPr algn="l"/>
                      <a:r>
                        <a:rPr sz="1000" b="0">
                          <a:solidFill>
                            <a:srgbClr val="1E293B"/>
                          </a:solidFill>
                        </a:rPr>
                        <a:t>A module that enables secure and private voice conversations</a:t>
                      </a:r>
                    </a:p>
                  </a:txBody>
                  <a:tcPr marL="82296" marR="82296" marT="36576" marB="36576" anchor="ctr">
                    <a:solidFill>
                      <a:srgbClr val="F8FAFC"/>
                    </a:solidFill>
                  </a:tcPr>
                </a:tc>
              </a:tr>
              <a:tr h="487680">
                <a:tc>
                  <a:txBody>
                    <a:bodyPr wrap="square"/>
                    <a:lstStyle/>
                    <a:p>
                      <a:pPr algn="l"/>
                      <a:r>
                        <a:rPr sz="1000" b="0">
                          <a:solidFill>
                            <a:srgbClr val="1E293B"/>
                          </a:solidFill>
                        </a:rPr>
                        <a:t>Document Studio</a:t>
                      </a:r>
                    </a:p>
                  </a:txBody>
                  <a:tcPr marL="82296" marR="82296" marT="36576" marB="36576" anchor="ctr">
                    <a:solidFill>
                      <a:srgbClr val="F1F5F9"/>
                    </a:solidFill>
                  </a:tcPr>
                </a:tc>
                <a:tc>
                  <a:txBody>
                    <a:bodyPr wrap="square"/>
                    <a:lstStyle/>
                    <a:p>
                      <a:pPr algn="l"/>
                      <a:r>
                        <a:rPr sz="1000" b="0">
                          <a:solidFill>
                            <a:srgbClr val="1E293B"/>
                          </a:solidFill>
                        </a:rPr>
                        <a:t>A module for document generation, allowing users to create high-quality documents with ease</a:t>
                      </a:r>
                    </a:p>
                  </a:txBody>
                  <a:tcPr marL="82296" marR="82296" marT="36576" marB="36576" anchor="ctr">
                    <a:solidFill>
                      <a:srgbClr val="F1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What EchoMind Enterprise Is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13</a:t>
            </a:r>
          </a:p>
        </p:txBody>
      </p:sp>
      <p:sp>
        <p:nvSpPr>
          <p:cNvPr id="7" name="TextBox 6"/>
          <p:cNvSpPr txBox="1"/>
          <p:nvPr/>
        </p:nvSpPr>
        <p:spPr>
          <a:xfrm>
            <a:off x="640080" y="1417320"/>
            <a:ext cx="10908792" cy="789432"/>
          </a:xfrm>
          <a:prstGeom prst="rect">
            <a:avLst/>
          </a:prstGeom>
          <a:noFill/>
        </p:spPr>
        <p:txBody>
          <a:bodyPr wrap="square" anchor="t">
            <a:spAutoFit/>
          </a:bodyPr>
          <a:lstStyle/>
          <a:p>
            <a:pPr algn="l"/>
            <a:r>
              <a:rPr sz="1600" b="0">
                <a:solidFill>
                  <a:srgbClr val="1E293B"/>
                </a:solidFill>
              </a:rPr>
              <a:t>Each module is carefully designed to ensure that sensitive data remains within the organization's control, eliminating the risk of data breaches or unauthorized access.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What EchoMind Enterprise Is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14</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The Five Modules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15</a:t>
            </a:r>
          </a:p>
        </p:txBody>
      </p:sp>
      <p:sp>
        <p:nvSpPr>
          <p:cNvPr id="7" name="TextBox 6"/>
          <p:cNvSpPr txBox="1"/>
          <p:nvPr/>
        </p:nvSpPr>
        <p:spPr>
          <a:xfrm>
            <a:off x="640080" y="1417320"/>
            <a:ext cx="10908792" cy="789432"/>
          </a:xfrm>
          <a:prstGeom prst="rect">
            <a:avLst/>
          </a:prstGeom>
          <a:noFill/>
        </p:spPr>
        <p:txBody>
          <a:bodyPr wrap="square" anchor="t">
            <a:spAutoFit/>
          </a:bodyPr>
          <a:lstStyle/>
          <a:p>
            <a:pPr algn="l"/>
            <a:r>
              <a:rPr sz="1600" b="0">
                <a:solidFill>
                  <a:srgbClr val="1E293B"/>
                </a:solidFill>
              </a:rPr>
              <a:t>EchoMind Enterprise is comprised of five distinct modules, each designed to address a specific need in the organization's AI strategy. These modules work together seamlessly to provide a comprehensive AI solution.</a:t>
            </a:r>
          </a:p>
        </p:txBody>
      </p:sp>
      <p:sp>
        <p:nvSpPr>
          <p:cNvPr id="8" name="TextBox 7"/>
          <p:cNvSpPr txBox="1"/>
          <p:nvPr/>
        </p:nvSpPr>
        <p:spPr>
          <a:xfrm>
            <a:off x="640080" y="2270760"/>
            <a:ext cx="10908792" cy="1573530"/>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Chat</a:t>
            </a:r>
          </a:p>
          <a:p>
            <a:pPr marL="274320" indent="-228600">
              <a:spcAft>
                <a:spcPts val="500"/>
              </a:spcAft>
              <a:buClr>
                <a:srgbClr val="22D3EE"/>
              </a:buClr>
              <a:buFont typeface="Arial"/>
              <a:buChar char="▪"/>
            </a:pPr>
            <a:r>
              <a:rPr sz="1500">
                <a:solidFill>
                  <a:srgbClr val="1E293B"/>
                </a:solidFill>
              </a:rPr>
              <a:t>Live Meeting Intelligence</a:t>
            </a:r>
          </a:p>
          <a:p>
            <a:pPr marL="274320" indent="-228600">
              <a:spcAft>
                <a:spcPts val="500"/>
              </a:spcAft>
              <a:buClr>
                <a:srgbClr val="22D3EE"/>
              </a:buClr>
              <a:buFont typeface="Arial"/>
              <a:buChar char="▪"/>
            </a:pPr>
            <a:r>
              <a:rPr sz="1500">
                <a:solidFill>
                  <a:srgbClr val="1E293B"/>
                </a:solidFill>
              </a:rPr>
              <a:t>Voice</a:t>
            </a:r>
          </a:p>
          <a:p>
            <a:pPr marL="274320" indent="-228600">
              <a:spcAft>
                <a:spcPts val="500"/>
              </a:spcAft>
              <a:buClr>
                <a:srgbClr val="22D3EE"/>
              </a:buClr>
              <a:buFont typeface="Arial"/>
              <a:buChar char="▪"/>
            </a:pPr>
            <a:r>
              <a:rPr sz="1500">
                <a:solidFill>
                  <a:srgbClr val="1E293B"/>
                </a:solidFill>
              </a:rPr>
              <a:t>Document Generation</a:t>
            </a:r>
          </a:p>
          <a:p>
            <a:pPr marL="274320" indent="-228600">
              <a:spcAft>
                <a:spcPts val="500"/>
              </a:spcAft>
              <a:buClr>
                <a:srgbClr val="22D3EE"/>
              </a:buClr>
              <a:buFont typeface="Arial"/>
              <a:buChar char="▪"/>
            </a:pPr>
            <a:r>
              <a:rPr sz="1500">
                <a:solidFill>
                  <a:srgbClr val="1E293B"/>
                </a:solidFill>
              </a:rPr>
              <a:t>Model Management</a:t>
            </a:r>
          </a:p>
        </p:txBody>
      </p:sp>
      <p:sp>
        <p:nvSpPr>
          <p:cNvPr id="9" name="TextBox 8"/>
          <p:cNvSpPr txBox="1"/>
          <p:nvPr/>
        </p:nvSpPr>
        <p:spPr>
          <a:xfrm>
            <a:off x="640080" y="3908298"/>
            <a:ext cx="10908792" cy="293623"/>
          </a:xfrm>
          <a:prstGeom prst="rect">
            <a:avLst/>
          </a:prstGeom>
          <a:noFill/>
        </p:spPr>
        <p:txBody>
          <a:bodyPr wrap="square" anchor="t">
            <a:spAutoFit/>
          </a:bodyPr>
          <a:lstStyle/>
          <a:p>
            <a:pPr algn="l"/>
            <a:r>
              <a:rPr sz="1600" b="0">
                <a:solidFill>
                  <a:srgbClr val="1E293B"/>
                </a:solidFill>
              </a:rPr>
              <a:t>Here's a closer look at each of the five modules and their features: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The Five Modules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16</a:t>
            </a:r>
          </a:p>
        </p:txBody>
      </p:sp>
      <p:graphicFrame>
        <p:nvGraphicFramePr>
          <p:cNvPr id="7" name="Table 6"/>
          <p:cNvGraphicFramePr>
            <a:graphicFrameLocks noGrp="1"/>
          </p:cNvGraphicFramePr>
          <p:nvPr/>
        </p:nvGraphicFramePr>
        <p:xfrm>
          <a:off x="640080" y="1417320"/>
          <a:ext cx="10908792" cy="2926080"/>
        </p:xfrm>
        <a:graphic>
          <a:graphicData uri="http://schemas.openxmlformats.org/drawingml/2006/table">
            <a:tbl>
              <a:tblPr bandRow="1">
                <a:tableStyleId>{5C22544A-7EE6-4342-B048-85BDC9FD1C3A}</a:tableStyleId>
              </a:tblPr>
              <a:tblGrid>
                <a:gridCol w="5454396"/>
                <a:gridCol w="5454396"/>
              </a:tblGrid>
              <a:tr h="487680">
                <a:tc>
                  <a:txBody>
                    <a:bodyPr wrap="square"/>
                    <a:lstStyle/>
                    <a:p>
                      <a:pPr algn="l"/>
                      <a:r>
                        <a:rPr sz="1100" b="1">
                          <a:solidFill>
                            <a:srgbClr val="FFFFFF"/>
                          </a:solidFill>
                        </a:rPr>
                        <a:t>Module</a:t>
                      </a:r>
                    </a:p>
                  </a:txBody>
                  <a:tcPr marL="82296" marR="82296" marT="36576" marB="36576" anchor="ctr">
                    <a:solidFill>
                      <a:srgbClr val="0EA5B7"/>
                    </a:solidFill>
                  </a:tcPr>
                </a:tc>
                <a:tc>
                  <a:txBody>
                    <a:bodyPr wrap="square"/>
                    <a:lstStyle/>
                    <a:p>
                      <a:pPr algn="l"/>
                      <a:r>
                        <a:rPr sz="1100" b="1">
                          <a:solidFill>
                            <a:srgbClr val="FFFFFF"/>
                          </a:solidFill>
                        </a:rPr>
                        <a:t>Description</a:t>
                      </a:r>
                    </a:p>
                  </a:txBody>
                  <a:tcPr marL="82296" marR="82296" marT="36576" marB="36576" anchor="ctr">
                    <a:solidFill>
                      <a:srgbClr val="0EA5B7"/>
                    </a:solidFill>
                  </a:tcPr>
                </a:tc>
              </a:tr>
              <a:tr h="487680">
                <a:tc>
                  <a:txBody>
                    <a:bodyPr wrap="square"/>
                    <a:lstStyle/>
                    <a:p>
                      <a:pPr algn="l"/>
                      <a:r>
                        <a:rPr sz="1000" b="0">
                          <a:solidFill>
                            <a:srgbClr val="1E293B"/>
                          </a:solidFill>
                        </a:rPr>
                        <a:t>Chat</a:t>
                      </a:r>
                    </a:p>
                  </a:txBody>
                  <a:tcPr marL="82296" marR="82296" marT="36576" marB="36576" anchor="ctr">
                    <a:solidFill>
                      <a:srgbClr val="F1F5F9"/>
                    </a:solidFill>
                  </a:tcPr>
                </a:tc>
                <a:tc>
                  <a:txBody>
                    <a:bodyPr wrap="square"/>
                    <a:lstStyle/>
                    <a:p>
                      <a:pPr algn="l"/>
                      <a:r>
                        <a:rPr sz="1000" b="0">
                          <a:solidFill>
                            <a:srgbClr val="1E293B"/>
                          </a:solidFill>
                        </a:rPr>
                        <a:t>Enables organizations to build custom chatbots that can interact with customers, employees, or other stakeholders.</a:t>
                      </a:r>
                    </a:p>
                  </a:txBody>
                  <a:tcPr marL="82296" marR="82296" marT="36576" marB="36576" anchor="ctr">
                    <a:solidFill>
                      <a:srgbClr val="F1F5F9"/>
                    </a:solidFill>
                  </a:tcPr>
                </a:tc>
              </a:tr>
              <a:tr h="487680">
                <a:tc>
                  <a:txBody>
                    <a:bodyPr wrap="square"/>
                    <a:lstStyle/>
                    <a:p>
                      <a:pPr algn="l"/>
                      <a:r>
                        <a:rPr sz="1000" b="0">
                          <a:solidFill>
                            <a:srgbClr val="1E293B"/>
                          </a:solidFill>
                        </a:rPr>
                        <a:t>Live Meeting Intelligence</a:t>
                      </a:r>
                    </a:p>
                  </a:txBody>
                  <a:tcPr marL="82296" marR="82296" marT="36576" marB="36576" anchor="ctr">
                    <a:solidFill>
                      <a:srgbClr val="F8FAFC"/>
                    </a:solidFill>
                  </a:tcPr>
                </a:tc>
                <a:tc>
                  <a:txBody>
                    <a:bodyPr wrap="square"/>
                    <a:lstStyle/>
                    <a:p>
                      <a:pPr algn="l"/>
                      <a:r>
                        <a:rPr sz="1000" b="0">
                          <a:solidFill>
                            <a:srgbClr val="1E293B"/>
                          </a:solidFill>
                        </a:rPr>
                        <a:t>Provides real-time insights and analytics on meeting discussions, allowing for more informed decision-making.</a:t>
                      </a:r>
                    </a:p>
                  </a:txBody>
                  <a:tcPr marL="82296" marR="82296" marT="36576" marB="36576" anchor="ctr">
                    <a:solidFill>
                      <a:srgbClr val="F8FAFC"/>
                    </a:solidFill>
                  </a:tcPr>
                </a:tc>
              </a:tr>
              <a:tr h="487680">
                <a:tc>
                  <a:txBody>
                    <a:bodyPr wrap="square"/>
                    <a:lstStyle/>
                    <a:p>
                      <a:pPr algn="l"/>
                      <a:r>
                        <a:rPr sz="1000" b="0">
                          <a:solidFill>
                            <a:srgbClr val="1E293B"/>
                          </a:solidFill>
                        </a:rPr>
                        <a:t>Voice</a:t>
                      </a:r>
                    </a:p>
                  </a:txBody>
                  <a:tcPr marL="82296" marR="82296" marT="36576" marB="36576" anchor="ctr">
                    <a:solidFill>
                      <a:srgbClr val="F1F5F9"/>
                    </a:solidFill>
                  </a:tcPr>
                </a:tc>
                <a:tc>
                  <a:txBody>
                    <a:bodyPr wrap="square"/>
                    <a:lstStyle/>
                    <a:p>
                      <a:pPr algn="l"/>
                      <a:r>
                        <a:rPr sz="1000" b="0">
                          <a:solidFill>
                            <a:srgbClr val="1E293B"/>
                          </a:solidFill>
                        </a:rPr>
                        <a:t>Empowers organizations to create custom voice assistants that can interact with customers, employees, or other stakeholders.</a:t>
                      </a:r>
                    </a:p>
                  </a:txBody>
                  <a:tcPr marL="82296" marR="82296" marT="36576" marB="36576" anchor="ctr">
                    <a:solidFill>
                      <a:srgbClr val="F1F5F9"/>
                    </a:solidFill>
                  </a:tcPr>
                </a:tc>
              </a:tr>
              <a:tr h="487680">
                <a:tc>
                  <a:txBody>
                    <a:bodyPr wrap="square"/>
                    <a:lstStyle/>
                    <a:p>
                      <a:pPr algn="l"/>
                      <a:r>
                        <a:rPr sz="1000" b="0">
                          <a:solidFill>
                            <a:srgbClr val="1E293B"/>
                          </a:solidFill>
                        </a:rPr>
                        <a:t>Document Generation</a:t>
                      </a:r>
                    </a:p>
                  </a:txBody>
                  <a:tcPr marL="82296" marR="82296" marT="36576" marB="36576" anchor="ctr">
                    <a:solidFill>
                      <a:srgbClr val="F8FAFC"/>
                    </a:solidFill>
                  </a:tcPr>
                </a:tc>
                <a:tc>
                  <a:txBody>
                    <a:bodyPr wrap="square"/>
                    <a:lstStyle/>
                    <a:p>
                      <a:pPr algn="l"/>
                      <a:r>
                        <a:rPr sz="1000" b="0">
                          <a:solidFill>
                            <a:srgbClr val="1E293B"/>
                          </a:solidFill>
                        </a:rPr>
                        <a:t>Automates the creation of documents, reports, and other written content, reducing manual workload and increasing productivity.</a:t>
                      </a:r>
                    </a:p>
                  </a:txBody>
                  <a:tcPr marL="82296" marR="82296" marT="36576" marB="36576" anchor="ctr">
                    <a:solidFill>
                      <a:srgbClr val="F8FAFC"/>
                    </a:solidFill>
                  </a:tcPr>
                </a:tc>
              </a:tr>
              <a:tr h="487680">
                <a:tc>
                  <a:txBody>
                    <a:bodyPr wrap="square"/>
                    <a:lstStyle/>
                    <a:p>
                      <a:pPr algn="l"/>
                      <a:r>
                        <a:rPr sz="1000" b="0">
                          <a:solidFill>
                            <a:srgbClr val="1E293B"/>
                          </a:solidFill>
                        </a:rPr>
                        <a:t>Model Management</a:t>
                      </a:r>
                    </a:p>
                  </a:txBody>
                  <a:tcPr marL="82296" marR="82296" marT="36576" marB="36576" anchor="ctr">
                    <a:solidFill>
                      <a:srgbClr val="F1F5F9"/>
                    </a:solidFill>
                  </a:tcPr>
                </a:tc>
                <a:tc>
                  <a:txBody>
                    <a:bodyPr wrap="square"/>
                    <a:lstStyle/>
                    <a:p>
                      <a:pPr algn="l"/>
                      <a:r>
                        <a:rPr sz="1000" b="0">
                          <a:solidFill>
                            <a:srgbClr val="1E293B"/>
                          </a:solidFill>
                        </a:rPr>
                        <a:t>Allows organizations to manage and govern their AI models, ensuring compliance with regulatory requirements and maintaining data security.</a:t>
                      </a:r>
                    </a:p>
                  </a:txBody>
                  <a:tcPr marL="82296" marR="82296" marT="36576" marB="36576" anchor="ctr">
                    <a:solidFill>
                      <a:srgbClr val="F1F5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The Five Modules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17</a:t>
            </a:r>
          </a:p>
        </p:txBody>
      </p:sp>
      <p:sp>
        <p:nvSpPr>
          <p:cNvPr id="7" name="TextBox 6"/>
          <p:cNvSpPr txBox="1"/>
          <p:nvPr/>
        </p:nvSpPr>
        <p:spPr>
          <a:xfrm>
            <a:off x="640080" y="1417320"/>
            <a:ext cx="10908792" cy="541528"/>
          </a:xfrm>
          <a:prstGeom prst="rect">
            <a:avLst/>
          </a:prstGeom>
          <a:noFill/>
        </p:spPr>
        <p:txBody>
          <a:bodyPr wrap="square" anchor="t">
            <a:spAutoFit/>
          </a:bodyPr>
          <a:lstStyle/>
          <a:p>
            <a:pPr algn="l"/>
            <a:r>
              <a:rPr sz="1600" b="0">
                <a:solidFill>
                  <a:srgbClr val="1E293B"/>
                </a:solidFill>
              </a:rPr>
              <a:t>Each module is designed to be highly customizable, allowing organizations to tailor the solution to their specific needs and goals.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The Five Modules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18</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EchoMind Edge Devices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19</a:t>
            </a:r>
          </a:p>
        </p:txBody>
      </p:sp>
      <p:sp>
        <p:nvSpPr>
          <p:cNvPr id="7" name="TextBox 6"/>
          <p:cNvSpPr txBox="1"/>
          <p:nvPr/>
        </p:nvSpPr>
        <p:spPr>
          <a:xfrm>
            <a:off x="640080" y="1417320"/>
            <a:ext cx="10908792" cy="1533143"/>
          </a:xfrm>
          <a:prstGeom prst="rect">
            <a:avLst/>
          </a:prstGeom>
          <a:noFill/>
        </p:spPr>
        <p:txBody>
          <a:bodyPr wrap="square" anchor="t">
            <a:spAutoFit/>
          </a:bodyPr>
          <a:lstStyle/>
          <a:p>
            <a:pPr algn="l"/>
            <a:r>
              <a:rPr sz="1600" b="0">
                <a:solidFill>
                  <a:srgbClr val="1E293B"/>
                </a:solidFill>
              </a:rPr>
              <a:t>EchoMind edge devices are designed to connect to the organization's knowledge base while remaining fully offline. This is made possible by the platform's ability to run on-premises, using the customer's own NVIDIA GPU hardware. The edge devices can be deployed in the field, allowing for real-time processing and analysis of data without the need for an internet connection.</a:t>
            </a:r>
          </a:p>
        </p:txBody>
      </p:sp>
      <p:sp>
        <p:nvSpPr>
          <p:cNvPr id="8" name="TextBox 7"/>
          <p:cNvSpPr txBox="1"/>
          <p:nvPr/>
        </p:nvSpPr>
        <p:spPr>
          <a:xfrm>
            <a:off x="640080" y="3014472"/>
            <a:ext cx="10908792" cy="583692"/>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The edge devices can be deployed in various locations, such as data centers, remote offices, or even on-site with customers.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EchoMind Edge Devices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20</a:t>
            </a:r>
          </a:p>
        </p:txBody>
      </p:sp>
      <p:graphicFrame>
        <p:nvGraphicFramePr>
          <p:cNvPr id="7" name="Table 6"/>
          <p:cNvGraphicFramePr>
            <a:graphicFrameLocks noGrp="1"/>
          </p:cNvGraphicFramePr>
          <p:nvPr/>
        </p:nvGraphicFramePr>
        <p:xfrm>
          <a:off x="640080" y="1417320"/>
          <a:ext cx="10908792" cy="1554480"/>
        </p:xfrm>
        <a:graphic>
          <a:graphicData uri="http://schemas.openxmlformats.org/drawingml/2006/table">
            <a:tbl>
              <a:tblPr bandRow="1">
                <a:tableStyleId>{5C22544A-7EE6-4342-B048-85BDC9FD1C3A}</a:tableStyleId>
              </a:tblPr>
              <a:tblGrid>
                <a:gridCol w="5454396"/>
                <a:gridCol w="5454396"/>
              </a:tblGrid>
              <a:tr h="518160">
                <a:tc>
                  <a:txBody>
                    <a:bodyPr wrap="square"/>
                    <a:lstStyle/>
                    <a:p>
                      <a:pPr algn="l"/>
                      <a:r>
                        <a:rPr sz="1100" b="1">
                          <a:solidFill>
                            <a:srgbClr val="FFFFFF"/>
                          </a:solidFill>
                        </a:rPr>
                        <a:t>Edge Device Type</a:t>
                      </a:r>
                    </a:p>
                  </a:txBody>
                  <a:tcPr marL="82296" marR="82296" marT="36576" marB="36576" anchor="ctr">
                    <a:solidFill>
                      <a:srgbClr val="0EA5B7"/>
                    </a:solidFill>
                  </a:tcPr>
                </a:tc>
                <a:tc>
                  <a:txBody>
                    <a:bodyPr wrap="square"/>
                    <a:lstStyle/>
                    <a:p>
                      <a:pPr algn="l"/>
                      <a:r>
                        <a:rPr sz="1100" b="1">
                          <a:solidFill>
                            <a:srgbClr val="FFFFFF"/>
                          </a:solidFill>
                        </a:rPr>
                        <a:t>Description</a:t>
                      </a:r>
                    </a:p>
                  </a:txBody>
                  <a:tcPr marL="82296" marR="82296" marT="36576" marB="36576" anchor="ctr">
                    <a:solidFill>
                      <a:srgbClr val="0EA5B7"/>
                    </a:solidFill>
                  </a:tcPr>
                </a:tc>
              </a:tr>
              <a:tr h="518160">
                <a:tc>
                  <a:txBody>
                    <a:bodyPr wrap="square"/>
                    <a:lstStyle/>
                    <a:p>
                      <a:pPr algn="l"/>
                      <a:r>
                        <a:rPr sz="1000" b="0">
                          <a:solidFill>
                            <a:srgbClr val="1E293B"/>
                          </a:solidFill>
                        </a:rPr>
                        <a:t>Standard Edge Device</a:t>
                      </a:r>
                    </a:p>
                  </a:txBody>
                  <a:tcPr marL="82296" marR="82296" marT="36576" marB="36576" anchor="ctr">
                    <a:solidFill>
                      <a:srgbClr val="F1F5F9"/>
                    </a:solidFill>
                  </a:tcPr>
                </a:tc>
                <a:tc>
                  <a:txBody>
                    <a:bodyPr wrap="square"/>
                    <a:lstStyle/>
                    <a:p>
                      <a:pPr algn="l"/>
                      <a:r>
                        <a:rPr sz="1000" b="0">
                          <a:solidFill>
                            <a:srgbClr val="1E293B"/>
                          </a:solidFill>
                        </a:rPr>
                        <a:t>A standard edge device that connects to the host's knowledge base and runs AI models locally.</a:t>
                      </a:r>
                    </a:p>
                  </a:txBody>
                  <a:tcPr marL="82296" marR="82296" marT="36576" marB="36576" anchor="ctr">
                    <a:solidFill>
                      <a:srgbClr val="F1F5F9"/>
                    </a:solidFill>
                  </a:tcPr>
                </a:tc>
              </a:tr>
              <a:tr h="518160">
                <a:tc>
                  <a:txBody>
                    <a:bodyPr wrap="square"/>
                    <a:lstStyle/>
                    <a:p>
                      <a:pPr algn="l"/>
                      <a:r>
                        <a:rPr sz="1000" b="0">
                          <a:solidFill>
                            <a:srgbClr val="1E293B"/>
                          </a:solidFill>
                        </a:rPr>
                        <a:t>Advanced Edge Device</a:t>
                      </a:r>
                    </a:p>
                  </a:txBody>
                  <a:tcPr marL="82296" marR="82296" marT="36576" marB="36576" anchor="ctr">
                    <a:solidFill>
                      <a:srgbClr val="F8FAFC"/>
                    </a:solidFill>
                  </a:tcPr>
                </a:tc>
                <a:tc>
                  <a:txBody>
                    <a:bodyPr wrap="square"/>
                    <a:lstStyle/>
                    <a:p>
                      <a:pPr algn="l"/>
                      <a:r>
                        <a:rPr sz="1000" b="0">
                          <a:solidFill>
                            <a:srgbClr val="1E293B"/>
                          </a:solidFill>
                        </a:rPr>
                        <a:t>An advanced edge device that includes additional features such as real-time data processing and advanced analytics.</a:t>
                      </a:r>
                    </a:p>
                  </a:txBody>
                  <a:tcPr marL="82296" marR="82296" marT="36576" marB="36576" anchor="ctr">
                    <a:solidFill>
                      <a:srgbClr val="F8FAF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EchoMind Edge Devices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21</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Secure Offline-to-Online Content Export</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22</a:t>
            </a:r>
          </a:p>
        </p:txBody>
      </p:sp>
      <p:sp>
        <p:nvSpPr>
          <p:cNvPr id="7" name="TextBox 6"/>
          <p:cNvSpPr txBox="1"/>
          <p:nvPr/>
        </p:nvSpPr>
        <p:spPr>
          <a:xfrm>
            <a:off x="640080" y="1417320"/>
            <a:ext cx="10908792" cy="1285240"/>
          </a:xfrm>
          <a:prstGeom prst="rect">
            <a:avLst/>
          </a:prstGeom>
          <a:noFill/>
        </p:spPr>
        <p:txBody>
          <a:bodyPr wrap="square" anchor="t">
            <a:spAutoFit/>
          </a:bodyPr>
          <a:lstStyle/>
          <a:p>
            <a:pPr algn="l"/>
            <a:r>
              <a:rPr sz="1600" b="0">
                <a:solidFill>
                  <a:srgbClr val="1E293B"/>
                </a:solidFill>
              </a:rPr>
              <a:t>In the EchoMind Enterprise platform, the secure process of exporting content from the offline world to the online layer is designed to mitigate the risks associated with data transfer. This is achieved through a carefully controlled and audited process that ensures the integrity and confidentiality of sensitive information.</a:t>
            </a:r>
          </a:p>
        </p:txBody>
      </p:sp>
      <p:sp>
        <p:nvSpPr>
          <p:cNvPr id="8" name="TextBox 7"/>
          <p:cNvSpPr txBox="1"/>
          <p:nvPr/>
        </p:nvSpPr>
        <p:spPr>
          <a:xfrm>
            <a:off x="640080" y="2766567"/>
            <a:ext cx="10908792" cy="3041142"/>
          </a:xfrm>
          <a:prstGeom prst="rect">
            <a:avLst/>
          </a:prstGeom>
          <a:noFill/>
        </p:spPr>
        <p:txBody>
          <a:bodyPr wrap="square">
            <a:spAutoFit/>
          </a:bodyPr>
          <a:lstStyle/>
          <a:p>
            <a:pPr marL="274320" indent="-228600">
              <a:spcAft>
                <a:spcPts val="500"/>
              </a:spcAft>
              <a:buClr>
                <a:srgbClr val="22D3EE"/>
              </a:buClr>
              <a:buFont typeface="Arial"/>
              <a:buAutoNum type="arabicPeriod" startAt="1"/>
            </a:pPr>
            <a:r>
              <a:rPr sz="1500">
                <a:solidFill>
                  <a:srgbClr val="1E293B"/>
                </a:solidFill>
              </a:rPr>
              <a:t>The offline-to-online content export process involves several key steps:</a:t>
            </a:r>
          </a:p>
          <a:p>
            <a:pPr marL="274320" indent="-228600">
              <a:spcAft>
                <a:spcPts val="500"/>
              </a:spcAft>
              <a:buClr>
                <a:srgbClr val="22D3EE"/>
              </a:buClr>
              <a:buFont typeface="Arial"/>
              <a:buAutoNum type="arabicPeriod" startAt="2"/>
            </a:pPr>
            <a:r>
              <a:rPr sz="1500">
                <a:solidFill>
                  <a:srgbClr val="1E293B"/>
                </a:solidFill>
              </a:rPr>
              <a:t>1. Content is first extracted from the offline environment and stored in a secure, isolated area.</a:t>
            </a:r>
          </a:p>
          <a:p>
            <a:pPr marL="274320" indent="-228600">
              <a:spcAft>
                <a:spcPts val="500"/>
              </a:spcAft>
              <a:buClr>
                <a:srgbClr val="22D3EE"/>
              </a:buClr>
              <a:buFont typeface="Arial"/>
              <a:buAutoNum type="arabicPeriod" startAt="3"/>
            </a:pPr>
            <a:r>
              <a:rPr sz="1500">
                <a:solidFill>
                  <a:srgbClr val="1E293B"/>
                </a:solidFill>
              </a:rPr>
              <a:t>2. The extracted content is then reviewed and validated to ensure that it meets the required security and compliance standards.</a:t>
            </a:r>
          </a:p>
          <a:p>
            <a:pPr marL="274320" indent="-228600">
              <a:spcAft>
                <a:spcPts val="500"/>
              </a:spcAft>
              <a:buClr>
                <a:srgbClr val="22D3EE"/>
              </a:buClr>
              <a:buFont typeface="Arial"/>
              <a:buAutoNum type="arabicPeriod" startAt="4"/>
            </a:pPr>
            <a:r>
              <a:rPr sz="1500">
                <a:solidFill>
                  <a:srgbClr val="1E293B"/>
                </a:solidFill>
              </a:rPr>
              <a:t>3. Once validated, the content is encrypted and packaged for transfer to the online environment.</a:t>
            </a:r>
          </a:p>
          <a:p>
            <a:pPr marL="274320" indent="-228600">
              <a:spcAft>
                <a:spcPts val="500"/>
              </a:spcAft>
              <a:buClr>
                <a:srgbClr val="22D3EE"/>
              </a:buClr>
              <a:buFont typeface="Arial"/>
              <a:buAutoNum type="arabicPeriod" startAt="5"/>
            </a:pPr>
            <a:r>
              <a:rPr sz="1500">
                <a:solidFill>
                  <a:srgbClr val="1E293B"/>
                </a:solidFill>
              </a:rPr>
              <a:t>4. The encrypted content is then transmitted to the online layer using secure, end-to-end encryption protocols.</a:t>
            </a:r>
          </a:p>
          <a:p>
            <a:pPr marL="274320" indent="-228600">
              <a:spcAft>
                <a:spcPts val="500"/>
              </a:spcAft>
              <a:buClr>
                <a:srgbClr val="22D3EE"/>
              </a:buClr>
              <a:buFont typeface="Arial"/>
              <a:buAutoNum type="arabicPeriod" startAt="6"/>
            </a:pPr>
            <a:r>
              <a:rPr sz="1500">
                <a:solidFill>
                  <a:srgbClr val="1E293B"/>
                </a:solidFill>
              </a:rPr>
              <a:t>5. The online environment verifies the authenticity and integrity of the content before making it available for use.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300" b="1">
                <a:solidFill>
                  <a:srgbClr val="0E7490"/>
                </a:solidFill>
                <a:latin typeface="Helvetica-Bold"/>
              </a:rPr>
              <a:t>Secure Offline-to-Online Content Export Process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23</a:t>
            </a:r>
          </a:p>
        </p:txBody>
      </p:sp>
      <p:graphicFrame>
        <p:nvGraphicFramePr>
          <p:cNvPr id="7" name="Table 6"/>
          <p:cNvGraphicFramePr>
            <a:graphicFrameLocks noGrp="1"/>
          </p:cNvGraphicFramePr>
          <p:nvPr/>
        </p:nvGraphicFramePr>
        <p:xfrm>
          <a:off x="640080" y="1417320"/>
          <a:ext cx="10908792" cy="2926080"/>
        </p:xfrm>
        <a:graphic>
          <a:graphicData uri="http://schemas.openxmlformats.org/drawingml/2006/table">
            <a:tbl>
              <a:tblPr bandRow="1">
                <a:tableStyleId>{5C22544A-7EE6-4342-B048-85BDC9FD1C3A}</a:tableStyleId>
              </a:tblPr>
              <a:tblGrid>
                <a:gridCol w="3636264"/>
                <a:gridCol w="3636264"/>
                <a:gridCol w="3636264"/>
              </a:tblGrid>
              <a:tr h="487680">
                <a:tc>
                  <a:txBody>
                    <a:bodyPr wrap="square"/>
                    <a:lstStyle/>
                    <a:p>
                      <a:pPr algn="l"/>
                      <a:r>
                        <a:rPr sz="1100" b="1">
                          <a:solidFill>
                            <a:srgbClr val="FFFFFF"/>
                          </a:solidFill>
                        </a:rPr>
                        <a:t>Step</a:t>
                      </a:r>
                    </a:p>
                  </a:txBody>
                  <a:tcPr marL="82296" marR="82296" marT="36576" marB="36576" anchor="ctr">
                    <a:solidFill>
                      <a:srgbClr val="0EA5B7"/>
                    </a:solidFill>
                  </a:tcPr>
                </a:tc>
                <a:tc>
                  <a:txBody>
                    <a:bodyPr wrap="square"/>
                    <a:lstStyle/>
                    <a:p>
                      <a:pPr algn="l"/>
                      <a:r>
                        <a:rPr sz="1100" b="1">
                          <a:solidFill>
                            <a:srgbClr val="FFFFFF"/>
                          </a:solidFill>
                        </a:rPr>
                        <a:t>Description</a:t>
                      </a:r>
                    </a:p>
                  </a:txBody>
                  <a:tcPr marL="82296" marR="82296" marT="36576" marB="36576" anchor="ctr">
                    <a:solidFill>
                      <a:srgbClr val="0EA5B7"/>
                    </a:solidFill>
                  </a:tcPr>
                </a:tc>
                <a:tc>
                  <a:txBody>
                    <a:bodyPr wrap="square"/>
                    <a:lstStyle/>
                    <a:p>
                      <a:pPr algn="l"/>
                      <a:r>
                        <a:rPr sz="1100" b="1">
                          <a:solidFill>
                            <a:srgbClr val="FFFFFF"/>
                          </a:solidFill>
                        </a:rPr>
                        <a:t>Risk Mitigation</a:t>
                      </a:r>
                    </a:p>
                  </a:txBody>
                  <a:tcPr marL="82296" marR="82296" marT="36576" marB="36576" anchor="ctr">
                    <a:solidFill>
                      <a:srgbClr val="0EA5B7"/>
                    </a:solidFill>
                  </a:tcPr>
                </a:tc>
              </a:tr>
              <a:tr h="487680">
                <a:tc>
                  <a:txBody>
                    <a:bodyPr wrap="square"/>
                    <a:lstStyle/>
                    <a:p>
                      <a:pPr algn="l"/>
                      <a:r>
                        <a:rPr sz="1000" b="0">
                          <a:solidFill>
                            <a:srgbClr val="1E293B"/>
                          </a:solidFill>
                        </a:rPr>
                        <a:t>1. Content extraction</a:t>
                      </a:r>
                    </a:p>
                  </a:txBody>
                  <a:tcPr marL="82296" marR="82296" marT="36576" marB="36576" anchor="ctr">
                    <a:solidFill>
                      <a:srgbClr val="F1F5F9"/>
                    </a:solidFill>
                  </a:tcPr>
                </a:tc>
                <a:tc>
                  <a:txBody>
                    <a:bodyPr wrap="square"/>
                    <a:lstStyle/>
                    <a:p>
                      <a:pPr algn="l"/>
                      <a:r>
                        <a:rPr sz="1000" b="0">
                          <a:solidFill>
                            <a:srgbClr val="1E293B"/>
                          </a:solidFill>
                        </a:rPr>
                        <a:t>Extracting content from the offline environment</a:t>
                      </a:r>
                    </a:p>
                  </a:txBody>
                  <a:tcPr marL="82296" marR="82296" marT="36576" marB="36576" anchor="ctr">
                    <a:solidFill>
                      <a:srgbClr val="F1F5F9"/>
                    </a:solidFill>
                  </a:tcPr>
                </a:tc>
                <a:tc>
                  <a:txBody>
                    <a:bodyPr wrap="square"/>
                    <a:lstStyle/>
                    <a:p>
                      <a:pPr algn="l"/>
                      <a:r>
                        <a:rPr sz="1000" b="0">
                          <a:solidFill>
                            <a:srgbClr val="1E293B"/>
                          </a:solidFill>
                        </a:rPr>
                        <a:t>Data loss or corruption due to improper extraction</a:t>
                      </a:r>
                    </a:p>
                  </a:txBody>
                  <a:tcPr marL="82296" marR="82296" marT="36576" marB="36576" anchor="ctr">
                    <a:solidFill>
                      <a:srgbClr val="F1F5F9"/>
                    </a:solidFill>
                  </a:tcPr>
                </a:tc>
              </a:tr>
              <a:tr h="487680">
                <a:tc>
                  <a:txBody>
                    <a:bodyPr wrap="square"/>
                    <a:lstStyle/>
                    <a:p>
                      <a:pPr algn="l"/>
                      <a:r>
                        <a:rPr sz="1000" b="0">
                          <a:solidFill>
                            <a:srgbClr val="1E293B"/>
                          </a:solidFill>
                        </a:rPr>
                        <a:t>2. Content validation</a:t>
                      </a:r>
                    </a:p>
                  </a:txBody>
                  <a:tcPr marL="82296" marR="82296" marT="36576" marB="36576" anchor="ctr">
                    <a:solidFill>
                      <a:srgbClr val="F8FAFC"/>
                    </a:solidFill>
                  </a:tcPr>
                </a:tc>
                <a:tc>
                  <a:txBody>
                    <a:bodyPr wrap="square"/>
                    <a:lstStyle/>
                    <a:p>
                      <a:pPr algn="l"/>
                      <a:r>
                        <a:rPr sz="1000" b="0">
                          <a:solidFill>
                            <a:srgbClr val="1E293B"/>
                          </a:solidFill>
                        </a:rPr>
                        <a:t>Validating content to ensure it meets security and compliance standards</a:t>
                      </a:r>
                    </a:p>
                  </a:txBody>
                  <a:tcPr marL="82296" marR="82296" marT="36576" marB="36576" anchor="ctr">
                    <a:solidFill>
                      <a:srgbClr val="F8FAFC"/>
                    </a:solidFill>
                  </a:tcPr>
                </a:tc>
                <a:tc>
                  <a:txBody>
                    <a:bodyPr wrap="square"/>
                    <a:lstStyle/>
                    <a:p>
                      <a:pPr algn="l"/>
                      <a:r>
                        <a:rPr sz="1000" b="0">
                          <a:solidFill>
                            <a:srgbClr val="1E293B"/>
                          </a:solidFill>
                        </a:rPr>
                        <a:t>Invalid or incomplete content due to inadequate validation</a:t>
                      </a:r>
                    </a:p>
                  </a:txBody>
                  <a:tcPr marL="82296" marR="82296" marT="36576" marB="36576" anchor="ctr">
                    <a:solidFill>
                      <a:srgbClr val="F8FAFC"/>
                    </a:solidFill>
                  </a:tcPr>
                </a:tc>
              </a:tr>
              <a:tr h="487680">
                <a:tc>
                  <a:txBody>
                    <a:bodyPr wrap="square"/>
                    <a:lstStyle/>
                    <a:p>
                      <a:pPr algn="l"/>
                      <a:r>
                        <a:rPr sz="1000" b="0">
                          <a:solidFill>
                            <a:srgbClr val="1E293B"/>
                          </a:solidFill>
                        </a:rPr>
                        <a:t>3. Content encryption</a:t>
                      </a:r>
                    </a:p>
                  </a:txBody>
                  <a:tcPr marL="82296" marR="82296" marT="36576" marB="36576" anchor="ctr">
                    <a:solidFill>
                      <a:srgbClr val="F1F5F9"/>
                    </a:solidFill>
                  </a:tcPr>
                </a:tc>
                <a:tc>
                  <a:txBody>
                    <a:bodyPr wrap="square"/>
                    <a:lstStyle/>
                    <a:p>
                      <a:pPr algn="l"/>
                      <a:r>
                        <a:rPr sz="1000" b="0">
                          <a:solidFill>
                            <a:srgbClr val="1E293B"/>
                          </a:solidFill>
                        </a:rPr>
                        <a:t>Encrypting content for secure transfer</a:t>
                      </a:r>
                    </a:p>
                  </a:txBody>
                  <a:tcPr marL="82296" marR="82296" marT="36576" marB="36576" anchor="ctr">
                    <a:solidFill>
                      <a:srgbClr val="F1F5F9"/>
                    </a:solidFill>
                  </a:tcPr>
                </a:tc>
                <a:tc>
                  <a:txBody>
                    <a:bodyPr wrap="square"/>
                    <a:lstStyle/>
                    <a:p>
                      <a:pPr algn="l"/>
                      <a:r>
                        <a:rPr sz="1000" b="0">
                          <a:solidFill>
                            <a:srgbClr val="1E293B"/>
                          </a:solidFill>
                        </a:rPr>
                        <a:t>Data breaches or unauthorized access due to weak encryption</a:t>
                      </a:r>
                    </a:p>
                  </a:txBody>
                  <a:tcPr marL="82296" marR="82296" marT="36576" marB="36576" anchor="ctr">
                    <a:solidFill>
                      <a:srgbClr val="F1F5F9"/>
                    </a:solidFill>
                  </a:tcPr>
                </a:tc>
              </a:tr>
              <a:tr h="487680">
                <a:tc>
                  <a:txBody>
                    <a:bodyPr wrap="square"/>
                    <a:lstStyle/>
                    <a:p>
                      <a:pPr algn="l"/>
                      <a:r>
                        <a:rPr sz="1000" b="0">
                          <a:solidFill>
                            <a:srgbClr val="1E293B"/>
                          </a:solidFill>
                        </a:rPr>
                        <a:t>4. Secure transmission</a:t>
                      </a:r>
                    </a:p>
                  </a:txBody>
                  <a:tcPr marL="82296" marR="82296" marT="36576" marB="36576" anchor="ctr">
                    <a:solidFill>
                      <a:srgbClr val="F8FAFC"/>
                    </a:solidFill>
                  </a:tcPr>
                </a:tc>
                <a:tc>
                  <a:txBody>
                    <a:bodyPr wrap="square"/>
                    <a:lstStyle/>
                    <a:p>
                      <a:pPr algn="l"/>
                      <a:r>
                        <a:rPr sz="1000" b="0">
                          <a:solidFill>
                            <a:srgbClr val="1E293B"/>
                          </a:solidFill>
                        </a:rPr>
                        <a:t>Transmitting content using end-to-end encryption protocols</a:t>
                      </a:r>
                    </a:p>
                  </a:txBody>
                  <a:tcPr marL="82296" marR="82296" marT="36576" marB="36576" anchor="ctr">
                    <a:solidFill>
                      <a:srgbClr val="F8FAFC"/>
                    </a:solidFill>
                  </a:tcPr>
                </a:tc>
                <a:tc>
                  <a:txBody>
                    <a:bodyPr wrap="square"/>
                    <a:lstStyle/>
                    <a:p>
                      <a:pPr algn="l"/>
                      <a:r>
                        <a:rPr sz="1000" b="0">
                          <a:solidFill>
                            <a:srgbClr val="1E293B"/>
                          </a:solidFill>
                        </a:rPr>
                        <a:t>Data interception or eavesdropping due to insecure transmission</a:t>
                      </a:r>
                    </a:p>
                  </a:txBody>
                  <a:tcPr marL="82296" marR="82296" marT="36576" marB="36576" anchor="ctr">
                    <a:solidFill>
                      <a:srgbClr val="F8FAFC"/>
                    </a:solidFill>
                  </a:tcPr>
                </a:tc>
              </a:tr>
              <a:tr h="487680">
                <a:tc>
                  <a:txBody>
                    <a:bodyPr wrap="square"/>
                    <a:lstStyle/>
                    <a:p>
                      <a:pPr algn="l"/>
                      <a:r>
                        <a:rPr sz="1000" b="0">
                          <a:solidFill>
                            <a:srgbClr val="1E293B"/>
                          </a:solidFill>
                        </a:rPr>
                        <a:t>5. Online verification</a:t>
                      </a:r>
                    </a:p>
                  </a:txBody>
                  <a:tcPr marL="82296" marR="82296" marT="36576" marB="36576" anchor="ctr">
                    <a:solidFill>
                      <a:srgbClr val="F1F5F9"/>
                    </a:solidFill>
                  </a:tcPr>
                </a:tc>
                <a:tc>
                  <a:txBody>
                    <a:bodyPr wrap="square"/>
                    <a:lstStyle/>
                    <a:p>
                      <a:pPr algn="l"/>
                      <a:r>
                        <a:rPr sz="1000" b="0">
                          <a:solidFill>
                            <a:srgbClr val="1E293B"/>
                          </a:solidFill>
                        </a:rPr>
                        <a:t>Verifying content authenticity and integrity</a:t>
                      </a:r>
                    </a:p>
                  </a:txBody>
                  <a:tcPr marL="82296" marR="82296" marT="36576" marB="36576" anchor="ctr">
                    <a:solidFill>
                      <a:srgbClr val="F1F5F9"/>
                    </a:solidFill>
                  </a:tcPr>
                </a:tc>
                <a:tc>
                  <a:txBody>
                    <a:bodyPr wrap="square"/>
                    <a:lstStyle/>
                    <a:p>
                      <a:pPr algn="l"/>
                      <a:r>
                        <a:rPr sz="1000" b="0">
                          <a:solidFill>
                            <a:srgbClr val="1E293B"/>
                          </a:solidFill>
                        </a:rPr>
                        <a:t>Data tampering or corruption due to inadequate verification</a:t>
                      </a:r>
                    </a:p>
                  </a:txBody>
                  <a:tcPr marL="82296" marR="82296" marT="36576" marB="36576" anchor="ctr">
                    <a:solidFill>
                      <a:srgbClr val="F1F5F9"/>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Secure Offline-to-Online Content Export</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24</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Offline and Online Layers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25</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E293B"/>
                </a:solidFill>
              </a:rPr>
              <a:t>EchoMind Enterprise's architecture is designed with two distinct layers: an offline layer and an online layer. This separation of concerns enables customers to maintain the highest level of security and control over their sensitive work.</a:t>
            </a:r>
          </a:p>
        </p:txBody>
      </p:sp>
      <p:sp>
        <p:nvSpPr>
          <p:cNvPr id="8" name="TextBox 7"/>
          <p:cNvSpPr txBox="1"/>
          <p:nvPr/>
        </p:nvSpPr>
        <p:spPr>
          <a:xfrm>
            <a:off x="640080" y="2518664"/>
            <a:ext cx="10908792" cy="1659635"/>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The offline layer consists of the AI models and the NVIDIA GPU hardware, which run locally on the customer's premises.</a:t>
            </a:r>
          </a:p>
          <a:p>
            <a:pPr marL="274320" indent="-228600">
              <a:spcAft>
                <a:spcPts val="500"/>
              </a:spcAft>
              <a:buClr>
                <a:srgbClr val="22D3EE"/>
              </a:buClr>
              <a:buFont typeface="Arial"/>
              <a:buChar char="▪"/>
            </a:pPr>
            <a:r>
              <a:rPr sz="1500">
                <a:solidFill>
                  <a:srgbClr val="1E293B"/>
                </a:solidFill>
              </a:rPr>
              <a:t>This layer is responsible for processing and generating insights, without any internet dependency at runtime.</a:t>
            </a:r>
          </a:p>
          <a:p>
            <a:pPr marL="274320" indent="-228600">
              <a:spcAft>
                <a:spcPts val="500"/>
              </a:spcAft>
              <a:buClr>
                <a:srgbClr val="22D3EE"/>
              </a:buClr>
              <a:buFont typeface="Arial"/>
              <a:buChar char="▪"/>
            </a:pPr>
            <a:r>
              <a:rPr sz="1500">
                <a:solidFill>
                  <a:srgbClr val="1E293B"/>
                </a:solidFill>
              </a:rPr>
              <a:t>The online layer, on the other hand, is a web-based interface that allows customers to configure, monitor, and manage the AI platform.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1900" b="1">
                <a:solidFill>
                  <a:srgbClr val="0E7490"/>
                </a:solidFill>
                <a:latin typeface="Helvetica-Bold"/>
              </a:rPr>
              <a:t>Key differences between the offline and online layers of EchoMind Enterprise</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26</a:t>
            </a:r>
          </a:p>
        </p:txBody>
      </p:sp>
      <p:graphicFrame>
        <p:nvGraphicFramePr>
          <p:cNvPr id="7" name="Table 6"/>
          <p:cNvGraphicFramePr>
            <a:graphicFrameLocks noGrp="1"/>
          </p:cNvGraphicFramePr>
          <p:nvPr/>
        </p:nvGraphicFramePr>
        <p:xfrm>
          <a:off x="640080" y="1417320"/>
          <a:ext cx="10908792" cy="2011680"/>
        </p:xfrm>
        <a:graphic>
          <a:graphicData uri="http://schemas.openxmlformats.org/drawingml/2006/table">
            <a:tbl>
              <a:tblPr bandRow="1">
                <a:tableStyleId>{5C22544A-7EE6-4342-B048-85BDC9FD1C3A}</a:tableStyleId>
              </a:tblPr>
              <a:tblGrid>
                <a:gridCol w="5454396"/>
                <a:gridCol w="5454396"/>
              </a:tblGrid>
              <a:tr h="502920">
                <a:tc>
                  <a:txBody>
                    <a:bodyPr wrap="square"/>
                    <a:lstStyle/>
                    <a:p>
                      <a:pPr algn="l"/>
                      <a:r>
                        <a:rPr sz="1100" b="1">
                          <a:solidFill>
                            <a:srgbClr val="FFFFFF"/>
                          </a:solidFill>
                        </a:rPr>
                        <a:t>Offline Layer</a:t>
                      </a:r>
                    </a:p>
                  </a:txBody>
                  <a:tcPr marL="82296" marR="82296" marT="36576" marB="36576" anchor="ctr">
                    <a:solidFill>
                      <a:srgbClr val="0EA5B7"/>
                    </a:solidFill>
                  </a:tcPr>
                </a:tc>
                <a:tc>
                  <a:txBody>
                    <a:bodyPr wrap="square"/>
                    <a:lstStyle/>
                    <a:p>
                      <a:pPr algn="l"/>
                      <a:r>
                        <a:rPr sz="1100" b="1">
                          <a:solidFill>
                            <a:srgbClr val="FFFFFF"/>
                          </a:solidFill>
                        </a:rPr>
                        <a:t>Online Layer</a:t>
                      </a:r>
                    </a:p>
                  </a:txBody>
                  <a:tcPr marL="82296" marR="82296" marT="36576" marB="36576" anchor="ctr">
                    <a:solidFill>
                      <a:srgbClr val="0EA5B7"/>
                    </a:solidFill>
                  </a:tcPr>
                </a:tc>
              </a:tr>
              <a:tr h="502920">
                <a:tc>
                  <a:txBody>
                    <a:bodyPr wrap="square"/>
                    <a:lstStyle/>
                    <a:p>
                      <a:pPr algn="l"/>
                      <a:r>
                        <a:rPr sz="1000" b="0">
                          <a:solidFill>
                            <a:srgbClr val="1E293B"/>
                          </a:solidFill>
                        </a:rPr>
                        <a:t>AI models and NVIDIA GPU hardware</a:t>
                      </a:r>
                    </a:p>
                  </a:txBody>
                  <a:tcPr marL="82296" marR="82296" marT="36576" marB="36576" anchor="ctr">
                    <a:solidFill>
                      <a:srgbClr val="F1F5F9"/>
                    </a:solidFill>
                  </a:tcPr>
                </a:tc>
                <a:tc>
                  <a:txBody>
                    <a:bodyPr wrap="square"/>
                    <a:lstStyle/>
                    <a:p>
                      <a:pPr algn="l"/>
                      <a:r>
                        <a:rPr sz="1000" b="0">
                          <a:solidFill>
                            <a:srgbClr val="1E293B"/>
                          </a:solidFill>
                        </a:rPr>
                        <a:t>Web-based interface for configuration, monitoring, and management</a:t>
                      </a:r>
                    </a:p>
                  </a:txBody>
                  <a:tcPr marL="82296" marR="82296" marT="36576" marB="36576" anchor="ctr">
                    <a:solidFill>
                      <a:srgbClr val="F1F5F9"/>
                    </a:solidFill>
                  </a:tcPr>
                </a:tc>
              </a:tr>
              <a:tr h="502920">
                <a:tc>
                  <a:txBody>
                    <a:bodyPr wrap="square"/>
                    <a:lstStyle/>
                    <a:p>
                      <a:pPr algn="l"/>
                      <a:r>
                        <a:rPr sz="1000" b="0">
                          <a:solidFill>
                            <a:srgbClr val="1E293B"/>
                          </a:solidFill>
                        </a:rPr>
                        <a:t>No internet dependency at runtime</a:t>
                      </a:r>
                    </a:p>
                  </a:txBody>
                  <a:tcPr marL="82296" marR="82296" marT="36576" marB="36576" anchor="ctr">
                    <a:solidFill>
                      <a:srgbClr val="F8FAFC"/>
                    </a:solidFill>
                  </a:tcPr>
                </a:tc>
                <a:tc>
                  <a:txBody>
                    <a:bodyPr wrap="square"/>
                    <a:lstStyle/>
                    <a:p>
                      <a:pPr algn="l"/>
                      <a:r>
                        <a:rPr sz="1000" b="0">
                          <a:solidFill>
                            <a:srgbClr val="1E293B"/>
                          </a:solidFill>
                        </a:rPr>
                        <a:t>Internet required for configuration and management</a:t>
                      </a:r>
                    </a:p>
                  </a:txBody>
                  <a:tcPr marL="82296" marR="82296" marT="36576" marB="36576" anchor="ctr">
                    <a:solidFill>
                      <a:srgbClr val="F8FAFC"/>
                    </a:solidFill>
                  </a:tcPr>
                </a:tc>
              </a:tr>
              <a:tr h="502920">
                <a:tc>
                  <a:txBody>
                    <a:bodyPr wrap="square"/>
                    <a:lstStyle/>
                    <a:p>
                      <a:pPr algn="l"/>
                      <a:r>
                        <a:rPr sz="1000" b="0">
                          <a:solidFill>
                            <a:srgbClr val="1E293B"/>
                          </a:solidFill>
                        </a:rPr>
                        <a:t>Air-gapped and isolated</a:t>
                      </a:r>
                    </a:p>
                  </a:txBody>
                  <a:tcPr marL="82296" marR="82296" marT="36576" marB="36576" anchor="ctr">
                    <a:solidFill>
                      <a:srgbClr val="F1F5F9"/>
                    </a:solidFill>
                  </a:tcPr>
                </a:tc>
                <a:tc>
                  <a:txBody>
                    <a:bodyPr wrap="square"/>
                    <a:lstStyle/>
                    <a:p>
                      <a:pPr algn="l"/>
                      <a:r>
                        <a:rPr sz="1000" b="0">
                          <a:solidFill>
                            <a:srgbClr val="1E293B"/>
                          </a:solidFill>
                        </a:rPr>
                        <a:t>Secure and controlled access</a:t>
                      </a:r>
                    </a:p>
                  </a:txBody>
                  <a:tcPr marL="82296" marR="82296" marT="36576" marB="36576" anchor="ctr">
                    <a:solidFill>
                      <a:srgbClr val="F1F5F9"/>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Offline and Online Layers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27</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A Building-Block Platform of N Customizations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28</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E293B"/>
                </a:solidFill>
              </a:rPr>
              <a:t>EchoMind Enterprise is a building-block platform that allows organizations to customize and assemble the modules and layers to solve their specific problems. This modular design enables Ajace AI to perform N customizations, tailoring the platform to meet the unique needs of each customer.</a:t>
            </a:r>
          </a:p>
        </p:txBody>
      </p:sp>
      <p:sp>
        <p:nvSpPr>
          <p:cNvPr id="8" name="TextBox 7"/>
          <p:cNvSpPr txBox="1"/>
          <p:nvPr/>
        </p:nvSpPr>
        <p:spPr>
          <a:xfrm>
            <a:off x="640080" y="2518664"/>
            <a:ext cx="10908792" cy="1267968"/>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The platform's modularity enables customers to:</a:t>
            </a:r>
          </a:p>
          <a:p>
            <a:pPr marL="274320" indent="-228600">
              <a:spcAft>
                <a:spcPts val="500"/>
              </a:spcAft>
              <a:buClr>
                <a:srgbClr val="22D3EE"/>
              </a:buClr>
              <a:buFont typeface="Arial"/>
              <a:buChar char="▪"/>
            </a:pPr>
            <a:r>
              <a:rPr sz="1500">
                <a:solidFill>
                  <a:srgbClr val="1E293B"/>
                </a:solidFill>
              </a:rPr>
              <a:t>select the specific AI capabilities they need</a:t>
            </a:r>
          </a:p>
          <a:p>
            <a:pPr marL="274320" indent="-228600">
              <a:spcAft>
                <a:spcPts val="500"/>
              </a:spcAft>
              <a:buClr>
                <a:srgbClr val="22D3EE"/>
              </a:buClr>
              <a:buFont typeface="Arial"/>
              <a:buChar char="▪"/>
            </a:pPr>
            <a:r>
              <a:rPr sz="1500">
                <a:solidFill>
                  <a:srgbClr val="1E293B"/>
                </a:solidFill>
              </a:rPr>
              <a:t>configure the platform to meet their unique requirements</a:t>
            </a:r>
          </a:p>
          <a:p>
            <a:pPr marL="274320" indent="-228600">
              <a:spcAft>
                <a:spcPts val="500"/>
              </a:spcAft>
              <a:buClr>
                <a:srgbClr val="22D3EE"/>
              </a:buClr>
              <a:buFont typeface="Arial"/>
              <a:buChar char="▪"/>
            </a:pPr>
            <a:r>
              <a:rPr sz="1500">
                <a:solidFill>
                  <a:srgbClr val="1E293B"/>
                </a:solidFill>
              </a:rPr>
              <a:t>integrate with existing systems and infrastructure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Customization Options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29</a:t>
            </a:r>
          </a:p>
        </p:txBody>
      </p:sp>
      <p:graphicFrame>
        <p:nvGraphicFramePr>
          <p:cNvPr id="7" name="Table 6"/>
          <p:cNvGraphicFramePr>
            <a:graphicFrameLocks noGrp="1"/>
          </p:cNvGraphicFramePr>
          <p:nvPr/>
        </p:nvGraphicFramePr>
        <p:xfrm>
          <a:off x="640080" y="1417320"/>
          <a:ext cx="10908792" cy="2011680"/>
        </p:xfrm>
        <a:graphic>
          <a:graphicData uri="http://schemas.openxmlformats.org/drawingml/2006/table">
            <a:tbl>
              <a:tblPr bandRow="1">
                <a:tableStyleId>{5C22544A-7EE6-4342-B048-85BDC9FD1C3A}</a:tableStyleId>
              </a:tblPr>
              <a:tblGrid>
                <a:gridCol w="5454396"/>
                <a:gridCol w="5454396"/>
              </a:tblGrid>
              <a:tr h="502920">
                <a:tc>
                  <a:txBody>
                    <a:bodyPr wrap="square"/>
                    <a:lstStyle/>
                    <a:p>
                      <a:pPr algn="l"/>
                      <a:r>
                        <a:rPr sz="1100" b="1">
                          <a:solidFill>
                            <a:srgbClr val="FFFFFF"/>
                          </a:solidFill>
                        </a:rPr>
                        <a:t>Customization Type</a:t>
                      </a:r>
                    </a:p>
                  </a:txBody>
                  <a:tcPr marL="82296" marR="82296" marT="36576" marB="36576" anchor="ctr">
                    <a:solidFill>
                      <a:srgbClr val="0EA5B7"/>
                    </a:solidFill>
                  </a:tcPr>
                </a:tc>
                <a:tc>
                  <a:txBody>
                    <a:bodyPr wrap="square"/>
                    <a:lstStyle/>
                    <a:p>
                      <a:pPr algn="l"/>
                      <a:r>
                        <a:rPr sz="1100" b="1">
                          <a:solidFill>
                            <a:srgbClr val="FFFFFF"/>
                          </a:solidFill>
                        </a:rPr>
                        <a:t>Description</a:t>
                      </a:r>
                    </a:p>
                  </a:txBody>
                  <a:tcPr marL="82296" marR="82296" marT="36576" marB="36576" anchor="ctr">
                    <a:solidFill>
                      <a:srgbClr val="0EA5B7"/>
                    </a:solidFill>
                  </a:tcPr>
                </a:tc>
              </a:tr>
              <a:tr h="502920">
                <a:tc>
                  <a:txBody>
                    <a:bodyPr wrap="square"/>
                    <a:lstStyle/>
                    <a:p>
                      <a:pPr algn="l"/>
                      <a:r>
                        <a:rPr sz="1000" b="0">
                          <a:solidFill>
                            <a:srgbClr val="1E293B"/>
                          </a:solidFill>
                        </a:rPr>
                        <a:t>Model Selection</a:t>
                      </a:r>
                    </a:p>
                  </a:txBody>
                  <a:tcPr marL="82296" marR="82296" marT="36576" marB="36576" anchor="ctr">
                    <a:solidFill>
                      <a:srgbClr val="F1F5F9"/>
                    </a:solidFill>
                  </a:tcPr>
                </a:tc>
                <a:tc>
                  <a:txBody>
                    <a:bodyPr wrap="square"/>
                    <a:lstStyle/>
                    <a:p>
                      <a:pPr algn="l"/>
                      <a:r>
                        <a:rPr sz="1000" b="0">
                          <a:solidFill>
                            <a:srgbClr val="1E293B"/>
                          </a:solidFill>
                        </a:rPr>
                        <a:t>Customers can choose from a range of AI models to suit their needs</a:t>
                      </a:r>
                    </a:p>
                  </a:txBody>
                  <a:tcPr marL="82296" marR="82296" marT="36576" marB="36576" anchor="ctr">
                    <a:solidFill>
                      <a:srgbClr val="F1F5F9"/>
                    </a:solidFill>
                  </a:tcPr>
                </a:tc>
              </a:tr>
              <a:tr h="502920">
                <a:tc>
                  <a:txBody>
                    <a:bodyPr wrap="square"/>
                    <a:lstStyle/>
                    <a:p>
                      <a:pPr algn="l"/>
                      <a:r>
                        <a:rPr sz="1000" b="0">
                          <a:solidFill>
                            <a:srgbClr val="1E293B"/>
                          </a:solidFill>
                        </a:rPr>
                        <a:t>Configuration Options</a:t>
                      </a:r>
                    </a:p>
                  </a:txBody>
                  <a:tcPr marL="82296" marR="82296" marT="36576" marB="36576" anchor="ctr">
                    <a:solidFill>
                      <a:srgbClr val="F8FAFC"/>
                    </a:solidFill>
                  </a:tcPr>
                </a:tc>
                <a:tc>
                  <a:txBody>
                    <a:bodyPr wrap="square"/>
                    <a:lstStyle/>
                    <a:p>
                      <a:pPr algn="l"/>
                      <a:r>
                        <a:rPr sz="1000" b="0">
                          <a:solidFill>
                            <a:srgbClr val="1E293B"/>
                          </a:solidFill>
                        </a:rPr>
                        <a:t>The platform offers a range of configuration options to meet specific requirements</a:t>
                      </a:r>
                    </a:p>
                  </a:txBody>
                  <a:tcPr marL="82296" marR="82296" marT="36576" marB="36576" anchor="ctr">
                    <a:solidFill>
                      <a:srgbClr val="F8FAFC"/>
                    </a:solidFill>
                  </a:tcPr>
                </a:tc>
              </a:tr>
              <a:tr h="502920">
                <a:tc>
                  <a:txBody>
                    <a:bodyPr wrap="square"/>
                    <a:lstStyle/>
                    <a:p>
                      <a:pPr algn="l"/>
                      <a:r>
                        <a:rPr sz="1000" b="0">
                          <a:solidFill>
                            <a:srgbClr val="1E293B"/>
                          </a:solidFill>
                        </a:rPr>
                        <a:t>Integration Capabilities</a:t>
                      </a:r>
                    </a:p>
                  </a:txBody>
                  <a:tcPr marL="82296" marR="82296" marT="36576" marB="36576" anchor="ctr">
                    <a:solidFill>
                      <a:srgbClr val="F1F5F9"/>
                    </a:solidFill>
                  </a:tcPr>
                </a:tc>
                <a:tc>
                  <a:txBody>
                    <a:bodyPr wrap="square"/>
                    <a:lstStyle/>
                    <a:p>
                      <a:pPr algn="l"/>
                      <a:r>
                        <a:rPr sz="1000" b="0">
                          <a:solidFill>
                            <a:srgbClr val="1E293B"/>
                          </a:solidFill>
                        </a:rPr>
                        <a:t>EchoMind can be integrated with existing systems and infrastructure</a:t>
                      </a:r>
                    </a:p>
                  </a:txBody>
                  <a:tcPr marL="82296" marR="82296" marT="36576" marB="36576" anchor="ctr">
                    <a:solidFill>
                      <a:srgbClr val="F1F5F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A Building-Block Platform of N Customizations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30</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We Do Not Sell Hardware We Solve Your Problem</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31</a:t>
            </a:r>
          </a:p>
        </p:txBody>
      </p:sp>
      <p:sp>
        <p:nvSpPr>
          <p:cNvPr id="7" name="TextBox 6"/>
          <p:cNvSpPr txBox="1"/>
          <p:nvPr/>
        </p:nvSpPr>
        <p:spPr>
          <a:xfrm>
            <a:off x="640080" y="1417320"/>
            <a:ext cx="10908792" cy="1285240"/>
          </a:xfrm>
          <a:prstGeom prst="rect">
            <a:avLst/>
          </a:prstGeom>
          <a:noFill/>
        </p:spPr>
        <p:txBody>
          <a:bodyPr wrap="square" anchor="t">
            <a:spAutoFit/>
          </a:bodyPr>
          <a:lstStyle/>
          <a:p>
            <a:pPr algn="l"/>
            <a:r>
              <a:rPr sz="1600" b="0">
                <a:solidFill>
                  <a:srgbClr val="1E293B"/>
                </a:solidFill>
              </a:rPr>
              <a:t>Ajace AI does not sell hardware, but rather provides a private, on-premises AI platform that solves the problem of cloud AI assistants quietly sending prompts, files, and recordings to an outside vendor. Our solution is designed to meet the needs of organizations that require complete control over their data and cannot send it to the cloud.</a:t>
            </a:r>
          </a:p>
        </p:txBody>
      </p:sp>
      <p:sp>
        <p:nvSpPr>
          <p:cNvPr id="8" name="TextBox 7"/>
          <p:cNvSpPr txBox="1"/>
          <p:nvPr/>
        </p:nvSpPr>
        <p:spPr>
          <a:xfrm>
            <a:off x="640080" y="2766567"/>
            <a:ext cx="10908792" cy="1037335"/>
          </a:xfrm>
          <a:prstGeom prst="rect">
            <a:avLst/>
          </a:prstGeom>
          <a:noFill/>
        </p:spPr>
        <p:txBody>
          <a:bodyPr wrap="square" anchor="t">
            <a:spAutoFit/>
          </a:bodyPr>
          <a:lstStyle/>
          <a:p>
            <a:pPr algn="l"/>
            <a:r>
              <a:rPr sz="1600" b="0">
                <a:solidFill>
                  <a:srgbClr val="1E293B"/>
                </a:solidFill>
              </a:rPr>
              <a:t>By not selling hardware, we focus on providing a comprehensive solution that addresses the specific needs of each organization. Our experts will work with you to determine the right hardware and infrastructure required to ensure that your private AI platform runs smoothly and efficiently.</a:t>
            </a:r>
          </a:p>
        </p:txBody>
      </p:sp>
      <p:sp>
        <p:nvSpPr>
          <p:cNvPr id="9" name="TextBox 8"/>
          <p:cNvSpPr txBox="1"/>
          <p:nvPr/>
        </p:nvSpPr>
        <p:spPr>
          <a:xfrm>
            <a:off x="640080" y="3867911"/>
            <a:ext cx="10908792" cy="1121664"/>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Our solution is not a hardware sale, but rather a tailored approach to meet your specific needs.</a:t>
            </a:r>
          </a:p>
          <a:p>
            <a:pPr marL="274320" indent="-228600">
              <a:spcAft>
                <a:spcPts val="500"/>
              </a:spcAft>
              <a:buClr>
                <a:srgbClr val="22D3EE"/>
              </a:buClr>
              <a:buFont typeface="Arial"/>
              <a:buChar char="▪"/>
            </a:pPr>
            <a:r>
              <a:rPr sz="1500">
                <a:solidFill>
                  <a:srgbClr val="1E293B"/>
                </a:solidFill>
              </a:rPr>
              <a:t>We recommend the right hardware and infrastructure to ensure seamless integration and optimal performance.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Built on Local AI</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32</a:t>
            </a:r>
          </a:p>
        </p:txBody>
      </p:sp>
      <p:sp>
        <p:nvSpPr>
          <p:cNvPr id="7" name="TextBox 6"/>
          <p:cNvSpPr txBox="1"/>
          <p:nvPr/>
        </p:nvSpPr>
        <p:spPr>
          <a:xfrm>
            <a:off x="640080" y="1417320"/>
            <a:ext cx="10908792" cy="1285240"/>
          </a:xfrm>
          <a:prstGeom prst="rect">
            <a:avLst/>
          </a:prstGeom>
          <a:noFill/>
        </p:spPr>
        <p:txBody>
          <a:bodyPr wrap="square" anchor="t">
            <a:spAutoFit/>
          </a:bodyPr>
          <a:lstStyle/>
          <a:p>
            <a:pPr algn="l"/>
            <a:r>
              <a:rPr sz="1600" b="0">
                <a:solidFill>
                  <a:srgbClr val="1E293B"/>
                </a:solidFill>
              </a:rPr>
              <a:t>EchoMind Enterprise's local AI architecture is designed to provide secure and efficient AI processing within the customer's premises. At the core of this architecture lies Llama-3.1-8B, a large language model that enables the platform to generate human-like text, respond to voice commands, and provide live meeting intelligence.</a:t>
            </a:r>
          </a:p>
        </p:txBody>
      </p:sp>
      <p:sp>
        <p:nvSpPr>
          <p:cNvPr id="8" name="TextBox 7"/>
          <p:cNvSpPr txBox="1"/>
          <p:nvPr/>
        </p:nvSpPr>
        <p:spPr>
          <a:xfrm>
            <a:off x="640080" y="2766567"/>
            <a:ext cx="10908792" cy="583692"/>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The platform utilizes TensorRT-LLM for efficient and high-performance AI inference, ensuring fast processing of complex AI tasks.</a:t>
            </a:r>
          </a:p>
        </p:txBody>
      </p:sp>
      <p:sp>
        <p:nvSpPr>
          <p:cNvPr id="9" name="TextBox 8"/>
          <p:cNvSpPr txBox="1"/>
          <p:nvPr/>
        </p:nvSpPr>
        <p:spPr>
          <a:xfrm>
            <a:off x="640080" y="3414267"/>
            <a:ext cx="10908792" cy="789432"/>
          </a:xfrm>
          <a:prstGeom prst="rect">
            <a:avLst/>
          </a:prstGeom>
          <a:noFill/>
        </p:spPr>
        <p:txBody>
          <a:bodyPr wrap="square" anchor="t">
            <a:spAutoFit/>
          </a:bodyPr>
          <a:lstStyle/>
          <a:p>
            <a:pPr algn="l"/>
            <a:r>
              <a:rPr sz="1600" b="0">
                <a:solidFill>
                  <a:srgbClr val="1E293B"/>
                </a:solidFill>
              </a:rPr>
              <a:t>Furthermore, EchoMind's AI engine leverages nomic-embed-text for advanced text embedding capabilities, enabling the platform to understand and process vast amounts of text data with unparalleled accuracy and speed.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300" b="1">
                <a:solidFill>
                  <a:srgbClr val="0E7490"/>
                </a:solidFill>
                <a:latin typeface="Helvetica-Bold"/>
              </a:rPr>
              <a:t>Key Components of EchoMind's Local AI Architecture</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33</a:t>
            </a:r>
          </a:p>
        </p:txBody>
      </p:sp>
      <p:graphicFrame>
        <p:nvGraphicFramePr>
          <p:cNvPr id="7" name="Table 6"/>
          <p:cNvGraphicFramePr>
            <a:graphicFrameLocks noGrp="1"/>
          </p:cNvGraphicFramePr>
          <p:nvPr/>
        </p:nvGraphicFramePr>
        <p:xfrm>
          <a:off x="640080" y="1417320"/>
          <a:ext cx="10908792" cy="2011680"/>
        </p:xfrm>
        <a:graphic>
          <a:graphicData uri="http://schemas.openxmlformats.org/drawingml/2006/table">
            <a:tbl>
              <a:tblPr bandRow="1">
                <a:tableStyleId>{5C22544A-7EE6-4342-B048-85BDC9FD1C3A}</a:tableStyleId>
              </a:tblPr>
              <a:tblGrid>
                <a:gridCol w="5454396"/>
                <a:gridCol w="5454396"/>
              </a:tblGrid>
              <a:tr h="502920">
                <a:tc>
                  <a:txBody>
                    <a:bodyPr wrap="square"/>
                    <a:lstStyle/>
                    <a:p>
                      <a:pPr algn="l"/>
                      <a:r>
                        <a:rPr sz="1100" b="1">
                          <a:solidFill>
                            <a:srgbClr val="FFFFFF"/>
                          </a:solidFill>
                        </a:rPr>
                        <a:t>Component</a:t>
                      </a:r>
                    </a:p>
                  </a:txBody>
                  <a:tcPr marL="82296" marR="82296" marT="36576" marB="36576" anchor="ctr">
                    <a:solidFill>
                      <a:srgbClr val="0EA5B7"/>
                    </a:solidFill>
                  </a:tcPr>
                </a:tc>
                <a:tc>
                  <a:txBody>
                    <a:bodyPr wrap="square"/>
                    <a:lstStyle/>
                    <a:p>
                      <a:pPr algn="l"/>
                      <a:r>
                        <a:rPr sz="1100" b="1">
                          <a:solidFill>
                            <a:srgbClr val="FFFFFF"/>
                          </a:solidFill>
                        </a:rPr>
                        <a:t>Description</a:t>
                      </a:r>
                    </a:p>
                  </a:txBody>
                  <a:tcPr marL="82296" marR="82296" marT="36576" marB="36576" anchor="ctr">
                    <a:solidFill>
                      <a:srgbClr val="0EA5B7"/>
                    </a:solidFill>
                  </a:tcPr>
                </a:tc>
              </a:tr>
              <a:tr h="502920">
                <a:tc>
                  <a:txBody>
                    <a:bodyPr wrap="square"/>
                    <a:lstStyle/>
                    <a:p>
                      <a:pPr algn="l"/>
                      <a:r>
                        <a:rPr sz="1000" b="0">
                          <a:solidFill>
                            <a:srgbClr val="1E293B"/>
                          </a:solidFill>
                        </a:rPr>
                        <a:t>Llama-3.1-8B</a:t>
                      </a:r>
                    </a:p>
                  </a:txBody>
                  <a:tcPr marL="82296" marR="82296" marT="36576" marB="36576" anchor="ctr">
                    <a:solidFill>
                      <a:srgbClr val="F1F5F9"/>
                    </a:solidFill>
                  </a:tcPr>
                </a:tc>
                <a:tc>
                  <a:txBody>
                    <a:bodyPr wrap="square"/>
                    <a:lstStyle/>
                    <a:p>
                      <a:pPr algn="l"/>
                      <a:r>
                        <a:rPr sz="1000" b="0">
                          <a:solidFill>
                            <a:srgbClr val="1E293B"/>
                          </a:solidFill>
                        </a:rPr>
                        <a:t>Large language model for text generation and response.</a:t>
                      </a:r>
                    </a:p>
                  </a:txBody>
                  <a:tcPr marL="82296" marR="82296" marT="36576" marB="36576" anchor="ctr">
                    <a:solidFill>
                      <a:srgbClr val="F1F5F9"/>
                    </a:solidFill>
                  </a:tcPr>
                </a:tc>
              </a:tr>
              <a:tr h="502920">
                <a:tc>
                  <a:txBody>
                    <a:bodyPr wrap="square"/>
                    <a:lstStyle/>
                    <a:p>
                      <a:pPr algn="l"/>
                      <a:r>
                        <a:rPr sz="1000" b="0">
                          <a:solidFill>
                            <a:srgbClr val="1E293B"/>
                          </a:solidFill>
                        </a:rPr>
                        <a:t>TensorRT-LLM</a:t>
                      </a:r>
                    </a:p>
                  </a:txBody>
                  <a:tcPr marL="82296" marR="82296" marT="36576" marB="36576" anchor="ctr">
                    <a:solidFill>
                      <a:srgbClr val="F8FAFC"/>
                    </a:solidFill>
                  </a:tcPr>
                </a:tc>
                <a:tc>
                  <a:txBody>
                    <a:bodyPr wrap="square"/>
                    <a:lstStyle/>
                    <a:p>
                      <a:pPr algn="l"/>
                      <a:r>
                        <a:rPr sz="1000" b="0">
                          <a:solidFill>
                            <a:srgbClr val="1E293B"/>
                          </a:solidFill>
                        </a:rPr>
                        <a:t>Efficient AI inference engine for fast processing.</a:t>
                      </a:r>
                    </a:p>
                  </a:txBody>
                  <a:tcPr marL="82296" marR="82296" marT="36576" marB="36576" anchor="ctr">
                    <a:solidFill>
                      <a:srgbClr val="F8FAFC"/>
                    </a:solidFill>
                  </a:tcPr>
                </a:tc>
              </a:tr>
              <a:tr h="502920">
                <a:tc>
                  <a:txBody>
                    <a:bodyPr wrap="square"/>
                    <a:lstStyle/>
                    <a:p>
                      <a:pPr algn="l"/>
                      <a:r>
                        <a:rPr sz="1000" b="0">
                          <a:solidFill>
                            <a:srgbClr val="1E293B"/>
                          </a:solidFill>
                        </a:rPr>
                        <a:t>nomic-embed-text</a:t>
                      </a:r>
                    </a:p>
                  </a:txBody>
                  <a:tcPr marL="82296" marR="82296" marT="36576" marB="36576" anchor="ctr">
                    <a:solidFill>
                      <a:srgbClr val="F1F5F9"/>
                    </a:solidFill>
                  </a:tcPr>
                </a:tc>
                <a:tc>
                  <a:txBody>
                    <a:bodyPr wrap="square"/>
                    <a:lstStyle/>
                    <a:p>
                      <a:pPr algn="l"/>
                      <a:r>
                        <a:rPr sz="1000" b="0">
                          <a:solidFill>
                            <a:srgbClr val="1E293B"/>
                          </a:solidFill>
                        </a:rPr>
                        <a:t>Advanced text embedding capabilities for text understanding.</a:t>
                      </a:r>
                    </a:p>
                  </a:txBody>
                  <a:tcPr marL="82296" marR="82296" marT="36576" marB="36576" anchor="ctr">
                    <a:solidFill>
                      <a:srgbClr val="F1F5F9"/>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Who It Is For</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34</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E293B"/>
                </a:solidFill>
              </a:rPr>
              <a:t>EchoMind Enterprise is designed for organizations that require a high level of security and control over their data. This includes defense, government, legal, finance, and healthcare teams that handle sensitive information and cannot risk sending it to the cloud.</a:t>
            </a:r>
          </a:p>
        </p:txBody>
      </p:sp>
      <p:sp>
        <p:nvSpPr>
          <p:cNvPr id="8" name="TextBox 7"/>
          <p:cNvSpPr txBox="1"/>
          <p:nvPr/>
        </p:nvSpPr>
        <p:spPr>
          <a:xfrm>
            <a:off x="640080" y="2518664"/>
            <a:ext cx="10908792" cy="2735579"/>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defense teams that require secure AI-powered threat analysis and intelligence gathering</a:t>
            </a:r>
          </a:p>
          <a:p>
            <a:pPr marL="274320" indent="-228600">
              <a:spcAft>
                <a:spcPts val="500"/>
              </a:spcAft>
              <a:buClr>
                <a:srgbClr val="22D3EE"/>
              </a:buClr>
              <a:buFont typeface="Arial"/>
              <a:buChar char="▪"/>
            </a:pPr>
            <a:r>
              <a:rPr sz="1500">
                <a:solidFill>
                  <a:srgbClr val="1E293B"/>
                </a:solidFill>
              </a:rPr>
              <a:t>government agencies that need to process sensitive data without internet dependency</a:t>
            </a:r>
          </a:p>
          <a:p>
            <a:pPr marL="274320" indent="-228600">
              <a:spcAft>
                <a:spcPts val="500"/>
              </a:spcAft>
              <a:buClr>
                <a:srgbClr val="22D3EE"/>
              </a:buClr>
              <a:buFont typeface="Arial"/>
              <a:buChar char="▪"/>
            </a:pPr>
            <a:r>
              <a:rPr sz="1500">
                <a:solidFill>
                  <a:srgbClr val="1E293B"/>
                </a:solidFill>
              </a:rPr>
              <a:t>legal firms that handle confidential client information and require AI-powered document review and analysis</a:t>
            </a:r>
          </a:p>
          <a:p>
            <a:pPr marL="274320" indent="-228600">
              <a:spcAft>
                <a:spcPts val="500"/>
              </a:spcAft>
              <a:buClr>
                <a:srgbClr val="22D3EE"/>
              </a:buClr>
              <a:buFont typeface="Arial"/>
              <a:buChar char="▪"/>
            </a:pPr>
            <a:r>
              <a:rPr sz="1500">
                <a:solidFill>
                  <a:srgbClr val="1E293B"/>
                </a:solidFill>
              </a:rPr>
              <a:t>finance institutions that need to analyze and generate reports on sensitive financial data without internet access</a:t>
            </a:r>
          </a:p>
          <a:p>
            <a:pPr marL="274320" indent="-228600">
              <a:spcAft>
                <a:spcPts val="500"/>
              </a:spcAft>
              <a:buClr>
                <a:srgbClr val="22D3EE"/>
              </a:buClr>
              <a:buFont typeface="Arial"/>
              <a:buChar char="▪"/>
            </a:pPr>
            <a:r>
              <a:rPr sz="1500">
                <a:solidFill>
                  <a:srgbClr val="1E293B"/>
                </a:solidFill>
              </a:rPr>
              <a:t>healthcare organizations that require secure AI-powered medical research and analysis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Target Industries and Requirements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35</a:t>
            </a:r>
          </a:p>
        </p:txBody>
      </p:sp>
      <p:graphicFrame>
        <p:nvGraphicFramePr>
          <p:cNvPr id="7" name="Table 6"/>
          <p:cNvGraphicFramePr>
            <a:graphicFrameLocks noGrp="1"/>
          </p:cNvGraphicFramePr>
          <p:nvPr/>
        </p:nvGraphicFramePr>
        <p:xfrm>
          <a:off x="640080" y="1417320"/>
          <a:ext cx="10908792" cy="2926080"/>
        </p:xfrm>
        <a:graphic>
          <a:graphicData uri="http://schemas.openxmlformats.org/drawingml/2006/table">
            <a:tbl>
              <a:tblPr bandRow="1">
                <a:tableStyleId>{5C22544A-7EE6-4342-B048-85BDC9FD1C3A}</a:tableStyleId>
              </a:tblPr>
              <a:tblGrid>
                <a:gridCol w="5454396"/>
                <a:gridCol w="5454396"/>
              </a:tblGrid>
              <a:tr h="487680">
                <a:tc>
                  <a:txBody>
                    <a:bodyPr wrap="square"/>
                    <a:lstStyle/>
                    <a:p>
                      <a:pPr algn="l"/>
                      <a:r>
                        <a:rPr sz="1100" b="1">
                          <a:solidFill>
                            <a:srgbClr val="FFFFFF"/>
                          </a:solidFill>
                        </a:rPr>
                        <a:t>Industry</a:t>
                      </a:r>
                    </a:p>
                  </a:txBody>
                  <a:tcPr marL="82296" marR="82296" marT="36576" marB="36576" anchor="ctr">
                    <a:solidFill>
                      <a:srgbClr val="0EA5B7"/>
                    </a:solidFill>
                  </a:tcPr>
                </a:tc>
                <a:tc>
                  <a:txBody>
                    <a:bodyPr wrap="square"/>
                    <a:lstStyle/>
                    <a:p>
                      <a:pPr algn="l"/>
                      <a:r>
                        <a:rPr sz="1100" b="1">
                          <a:solidFill>
                            <a:srgbClr val="FFFFFF"/>
                          </a:solidFill>
                        </a:rPr>
                        <a:t>Requirements</a:t>
                      </a:r>
                    </a:p>
                  </a:txBody>
                  <a:tcPr marL="82296" marR="82296" marT="36576" marB="36576" anchor="ctr">
                    <a:solidFill>
                      <a:srgbClr val="0EA5B7"/>
                    </a:solidFill>
                  </a:tcPr>
                </a:tc>
              </a:tr>
              <a:tr h="487680">
                <a:tc>
                  <a:txBody>
                    <a:bodyPr wrap="square"/>
                    <a:lstStyle/>
                    <a:p>
                      <a:pPr algn="l"/>
                      <a:r>
                        <a:rPr sz="1000" b="0">
                          <a:solidFill>
                            <a:srgbClr val="1E293B"/>
                          </a:solidFill>
                        </a:rPr>
                        <a:t>Defense</a:t>
                      </a:r>
                    </a:p>
                  </a:txBody>
                  <a:tcPr marL="82296" marR="82296" marT="36576" marB="36576" anchor="ctr">
                    <a:solidFill>
                      <a:srgbClr val="F1F5F9"/>
                    </a:solidFill>
                  </a:tcPr>
                </a:tc>
                <a:tc>
                  <a:txBody>
                    <a:bodyPr wrap="square"/>
                    <a:lstStyle/>
                    <a:p>
                      <a:pPr algn="l"/>
                      <a:r>
                        <a:rPr sz="1000" b="0">
                          <a:solidFill>
                            <a:srgbClr val="1E293B"/>
                          </a:solidFill>
                        </a:rPr>
                        <a:t>Secure AI-powered threat analysis and intelligence gathering</a:t>
                      </a:r>
                    </a:p>
                  </a:txBody>
                  <a:tcPr marL="82296" marR="82296" marT="36576" marB="36576" anchor="ctr">
                    <a:solidFill>
                      <a:srgbClr val="F1F5F9"/>
                    </a:solidFill>
                  </a:tcPr>
                </a:tc>
              </a:tr>
              <a:tr h="487680">
                <a:tc>
                  <a:txBody>
                    <a:bodyPr wrap="square"/>
                    <a:lstStyle/>
                    <a:p>
                      <a:pPr algn="l"/>
                      <a:r>
                        <a:rPr sz="1000" b="0">
                          <a:solidFill>
                            <a:srgbClr val="1E293B"/>
                          </a:solidFill>
                        </a:rPr>
                        <a:t>Government</a:t>
                      </a:r>
                    </a:p>
                  </a:txBody>
                  <a:tcPr marL="82296" marR="82296" marT="36576" marB="36576" anchor="ctr">
                    <a:solidFill>
                      <a:srgbClr val="F8FAFC"/>
                    </a:solidFill>
                  </a:tcPr>
                </a:tc>
                <a:tc>
                  <a:txBody>
                    <a:bodyPr wrap="square"/>
                    <a:lstStyle/>
                    <a:p>
                      <a:pPr algn="l"/>
                      <a:r>
                        <a:rPr sz="1000" b="0">
                          <a:solidFill>
                            <a:srgbClr val="1E293B"/>
                          </a:solidFill>
                        </a:rPr>
                        <a:t>Processing sensitive data without internet dependency</a:t>
                      </a:r>
                    </a:p>
                  </a:txBody>
                  <a:tcPr marL="82296" marR="82296" marT="36576" marB="36576" anchor="ctr">
                    <a:solidFill>
                      <a:srgbClr val="F8FAFC"/>
                    </a:solidFill>
                  </a:tcPr>
                </a:tc>
              </a:tr>
              <a:tr h="487680">
                <a:tc>
                  <a:txBody>
                    <a:bodyPr wrap="square"/>
                    <a:lstStyle/>
                    <a:p>
                      <a:pPr algn="l"/>
                      <a:r>
                        <a:rPr sz="1000" b="0">
                          <a:solidFill>
                            <a:srgbClr val="1E293B"/>
                          </a:solidFill>
                        </a:rPr>
                        <a:t>Legal</a:t>
                      </a:r>
                    </a:p>
                  </a:txBody>
                  <a:tcPr marL="82296" marR="82296" marT="36576" marB="36576" anchor="ctr">
                    <a:solidFill>
                      <a:srgbClr val="F1F5F9"/>
                    </a:solidFill>
                  </a:tcPr>
                </a:tc>
                <a:tc>
                  <a:txBody>
                    <a:bodyPr wrap="square"/>
                    <a:lstStyle/>
                    <a:p>
                      <a:pPr algn="l"/>
                      <a:r>
                        <a:rPr sz="1000" b="0">
                          <a:solidFill>
                            <a:srgbClr val="1E293B"/>
                          </a:solidFill>
                        </a:rPr>
                        <a:t>AI-powered document review and analysis</a:t>
                      </a:r>
                    </a:p>
                  </a:txBody>
                  <a:tcPr marL="82296" marR="82296" marT="36576" marB="36576" anchor="ctr">
                    <a:solidFill>
                      <a:srgbClr val="F1F5F9"/>
                    </a:solidFill>
                  </a:tcPr>
                </a:tc>
              </a:tr>
              <a:tr h="487680">
                <a:tc>
                  <a:txBody>
                    <a:bodyPr wrap="square"/>
                    <a:lstStyle/>
                    <a:p>
                      <a:pPr algn="l"/>
                      <a:r>
                        <a:rPr sz="1000" b="0">
                          <a:solidFill>
                            <a:srgbClr val="1E293B"/>
                          </a:solidFill>
                        </a:rPr>
                        <a:t>Finance</a:t>
                      </a:r>
                    </a:p>
                  </a:txBody>
                  <a:tcPr marL="82296" marR="82296" marT="36576" marB="36576" anchor="ctr">
                    <a:solidFill>
                      <a:srgbClr val="F8FAFC"/>
                    </a:solidFill>
                  </a:tcPr>
                </a:tc>
                <a:tc>
                  <a:txBody>
                    <a:bodyPr wrap="square"/>
                    <a:lstStyle/>
                    <a:p>
                      <a:pPr algn="l"/>
                      <a:r>
                        <a:rPr sz="1000" b="0">
                          <a:solidFill>
                            <a:srgbClr val="1E293B"/>
                          </a:solidFill>
                        </a:rPr>
                        <a:t>Analyzing and generating reports on sensitive financial data without internet access</a:t>
                      </a:r>
                    </a:p>
                  </a:txBody>
                  <a:tcPr marL="82296" marR="82296" marT="36576" marB="36576" anchor="ctr">
                    <a:solidFill>
                      <a:srgbClr val="F8FAFC"/>
                    </a:solidFill>
                  </a:tcPr>
                </a:tc>
              </a:tr>
              <a:tr h="487680">
                <a:tc>
                  <a:txBody>
                    <a:bodyPr wrap="square"/>
                    <a:lstStyle/>
                    <a:p>
                      <a:pPr algn="l"/>
                      <a:r>
                        <a:rPr sz="1000" b="0">
                          <a:solidFill>
                            <a:srgbClr val="1E293B"/>
                          </a:solidFill>
                        </a:rPr>
                        <a:t>Healthcare</a:t>
                      </a:r>
                    </a:p>
                  </a:txBody>
                  <a:tcPr marL="82296" marR="82296" marT="36576" marB="36576" anchor="ctr">
                    <a:solidFill>
                      <a:srgbClr val="F1F5F9"/>
                    </a:solidFill>
                  </a:tcPr>
                </a:tc>
                <a:tc>
                  <a:txBody>
                    <a:bodyPr wrap="square"/>
                    <a:lstStyle/>
                    <a:p>
                      <a:pPr algn="l"/>
                      <a:r>
                        <a:rPr sz="1000" b="0">
                          <a:solidFill>
                            <a:srgbClr val="1E293B"/>
                          </a:solidFill>
                        </a:rPr>
                        <a:t>Secure AI-powered medical research and analysis</a:t>
                      </a:r>
                    </a:p>
                  </a:txBody>
                  <a:tcPr marL="82296" marR="82296" marT="36576" marB="36576" anchor="ctr">
                    <a:solidFill>
                      <a:srgbClr val="F1F5F9"/>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Get Started With Ajace AI</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36</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E293B"/>
                </a:solidFill>
              </a:rPr>
              <a:t>To get started with Ajace AI, the first step is to define the scope and requirements of your EchoMind project. This involves identifying the specific use cases and functionalities you need to implement, such as chat, live meeting intelligence, voice, and document generation.</a:t>
            </a:r>
          </a:p>
        </p:txBody>
      </p:sp>
      <p:sp>
        <p:nvSpPr>
          <p:cNvPr id="8" name="TextBox 7"/>
          <p:cNvSpPr txBox="1"/>
          <p:nvPr/>
        </p:nvSpPr>
        <p:spPr>
          <a:xfrm>
            <a:off x="640080" y="2518664"/>
            <a:ext cx="10908792" cy="1500378"/>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Define the scope and requirements of your EchoMind project</a:t>
            </a:r>
          </a:p>
          <a:p>
            <a:pPr marL="274320" indent="-228600">
              <a:spcAft>
                <a:spcPts val="500"/>
              </a:spcAft>
              <a:buClr>
                <a:srgbClr val="22D3EE"/>
              </a:buClr>
              <a:buFont typeface="Arial"/>
              <a:buChar char="▪"/>
            </a:pPr>
            <a:r>
              <a:rPr sz="1500">
                <a:solidFill>
                  <a:srgbClr val="1E293B"/>
                </a:solidFill>
              </a:rPr>
              <a:t>Identify the specific use cases and functionalities you need to implement</a:t>
            </a:r>
          </a:p>
          <a:p>
            <a:pPr marL="274320" indent="-228600">
              <a:spcAft>
                <a:spcPts val="500"/>
              </a:spcAft>
              <a:buClr>
                <a:srgbClr val="22D3EE"/>
              </a:buClr>
              <a:buFont typeface="Arial"/>
              <a:buChar char="▪"/>
            </a:pPr>
            <a:r>
              <a:rPr sz="1500">
                <a:solidFill>
                  <a:srgbClr val="1E293B"/>
                </a:solidFill>
              </a:rPr>
              <a:t>Determine the infrastructure and hardware requirements for your project</a:t>
            </a:r>
          </a:p>
          <a:p>
            <a:pPr marL="274320" indent="-228600">
              <a:spcAft>
                <a:spcPts val="500"/>
              </a:spcAft>
              <a:buClr>
                <a:srgbClr val="22D3EE"/>
              </a:buClr>
              <a:buFont typeface="Arial"/>
              <a:buChar char="▪"/>
            </a:pPr>
            <a:r>
              <a:rPr sz="1500">
                <a:solidFill>
                  <a:srgbClr val="1E293B"/>
                </a:solidFill>
              </a:rPr>
              <a:t>Work with Ajace AI to design and shape EchoMind to meet your security posture and compliance needs</a:t>
            </a:r>
          </a:p>
        </p:txBody>
      </p:sp>
      <p:sp>
        <p:nvSpPr>
          <p:cNvPr id="9" name="TextBox 8"/>
          <p:cNvSpPr txBox="1"/>
          <p:nvPr/>
        </p:nvSpPr>
        <p:spPr>
          <a:xfrm>
            <a:off x="640080" y="4083050"/>
            <a:ext cx="10908792" cy="1037335"/>
          </a:xfrm>
          <a:prstGeom prst="rect">
            <a:avLst/>
          </a:prstGeom>
          <a:noFill/>
        </p:spPr>
        <p:txBody>
          <a:bodyPr wrap="square" anchor="t">
            <a:spAutoFit/>
          </a:bodyPr>
          <a:lstStyle/>
          <a:p>
            <a:pPr algn="l"/>
            <a:r>
              <a:rPr sz="1600" b="0">
                <a:solidFill>
                  <a:srgbClr val="1E293B"/>
                </a:solidFill>
              </a:rPr>
              <a:t>Once you have a clear understanding of your project's requirements, you can work with Ajace AI to design and shape EchoMind to meet your specific needs. This includes advising on the infrastructure and hardware requirements that fit your security posture and compliance needs.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APPENDIX</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37</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E293B"/>
                </a:solidFill>
              </a:rPr>
              <a:t>EchoMind Enterprise is designed to meet the stringent security requirements of organizations that cannot send their data to the cloud. To ensure maximum flexibility and control, the platform can be configured to meet specific system requirements.</a:t>
            </a:r>
          </a:p>
        </p:txBody>
      </p:sp>
      <p:sp>
        <p:nvSpPr>
          <p:cNvPr id="8" name="TextBox 7"/>
          <p:cNvSpPr txBox="1"/>
          <p:nvPr/>
        </p:nvSpPr>
        <p:spPr>
          <a:xfrm>
            <a:off x="640080" y="2518664"/>
            <a:ext cx="10908792" cy="1573530"/>
          </a:xfrm>
          <a:prstGeom prst="rect">
            <a:avLst/>
          </a:prstGeom>
          <a:noFill/>
        </p:spPr>
        <p:txBody>
          <a:bodyPr wrap="square">
            <a:spAutoFit/>
          </a:bodyPr>
          <a:lstStyle/>
          <a:p>
            <a:pPr marL="274320" indent="-228600">
              <a:spcAft>
                <a:spcPts val="500"/>
              </a:spcAft>
              <a:buClr>
                <a:srgbClr val="22D3EE"/>
              </a:buClr>
              <a:buFont typeface="Arial"/>
              <a:buChar char="▪"/>
            </a:pPr>
            <a:r>
              <a:rPr sz="1500">
                <a:solidFill>
                  <a:srgbClr val="1E293B"/>
                </a:solidFill>
              </a:rPr>
              <a:t>The platform requires a dedicated NVIDIA GPU with a minimum of 8GB of VRAM.</a:t>
            </a:r>
          </a:p>
          <a:p>
            <a:pPr marL="274320" indent="-228600">
              <a:spcAft>
                <a:spcPts val="500"/>
              </a:spcAft>
              <a:buClr>
                <a:srgbClr val="22D3EE"/>
              </a:buClr>
              <a:buFont typeface="Arial"/>
              <a:buChar char="▪"/>
            </a:pPr>
            <a:r>
              <a:rPr sz="1500">
                <a:solidFill>
                  <a:srgbClr val="1E293B"/>
                </a:solidFill>
              </a:rPr>
              <a:t>The system requirements for EchoMind Enterprise are as follows:</a:t>
            </a:r>
          </a:p>
          <a:p>
            <a:pPr marL="274320" indent="-228600">
              <a:spcAft>
                <a:spcPts val="500"/>
              </a:spcAft>
              <a:buClr>
                <a:srgbClr val="22D3EE"/>
              </a:buClr>
              <a:buFont typeface="Arial"/>
              <a:buChar char="▪"/>
            </a:pPr>
            <a:r>
              <a:rPr sz="1500">
                <a:solidFill>
                  <a:srgbClr val="1E293B"/>
                </a:solidFill>
              </a:rPr>
              <a:t>Operating System: Windows 10 or Linux (Ubuntu 18.04 or later)</a:t>
            </a:r>
          </a:p>
          <a:p>
            <a:pPr marL="274320" indent="-228600">
              <a:spcAft>
                <a:spcPts val="500"/>
              </a:spcAft>
              <a:buClr>
                <a:srgbClr val="22D3EE"/>
              </a:buClr>
              <a:buFont typeface="Arial"/>
              <a:buChar char="▪"/>
            </a:pPr>
            <a:r>
              <a:rPr sz="1500">
                <a:solidFill>
                  <a:srgbClr val="1E293B"/>
                </a:solidFill>
              </a:rPr>
              <a:t>NVIDIA GPU: Quadro or Tesla with a minimum of 8GB of VRAM</a:t>
            </a:r>
          </a:p>
          <a:p>
            <a:pPr marL="274320" indent="-228600">
              <a:spcAft>
                <a:spcPts val="500"/>
              </a:spcAft>
              <a:buClr>
                <a:srgbClr val="22D3EE"/>
              </a:buClr>
              <a:buFont typeface="Arial"/>
              <a:buChar char="▪"/>
            </a:pPr>
            <a:r>
              <a:rPr sz="1500">
                <a:solidFill>
                  <a:srgbClr val="1E293B"/>
                </a:solidFill>
              </a:rPr>
              <a:t>CPU: Intel Core i7 or AMD Ryzen 7 (3.5GHz or higher)</a:t>
            </a:r>
          </a:p>
        </p:txBody>
      </p:sp>
      <p:sp>
        <p:nvSpPr>
          <p:cNvPr id="9" name="TextBox 8"/>
          <p:cNvSpPr txBox="1"/>
          <p:nvPr/>
        </p:nvSpPr>
        <p:spPr>
          <a:xfrm>
            <a:off x="640080" y="4156202"/>
            <a:ext cx="10908792" cy="1037335"/>
          </a:xfrm>
          <a:prstGeom prst="rect">
            <a:avLst/>
          </a:prstGeom>
          <a:noFill/>
        </p:spPr>
        <p:txBody>
          <a:bodyPr wrap="square" anchor="t">
            <a:spAutoFit/>
          </a:bodyPr>
          <a:lstStyle/>
          <a:p>
            <a:pPr algn="l"/>
            <a:r>
              <a:rPr sz="1600" b="0">
                <a:solidFill>
                  <a:srgbClr val="1E293B"/>
                </a:solidFill>
              </a:rPr>
              <a:t>For organizations that require a high level of security, EchoMind Enterprise can be configured to run in a completely air-gapped environment. This means that the platform can be set up to operate without any internet connection, ensuring that data remains completely secure and confidential.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EA5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E7490"/>
                </a:solidFill>
                <a:latin typeface="Helvetica-Bold"/>
              </a:rPr>
              <a:t>System Requirements for EchoMind Enterprise</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4748B"/>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4748B"/>
                </a:solidFill>
              </a:rPr>
              <a:t>38</a:t>
            </a:r>
          </a:p>
        </p:txBody>
      </p:sp>
      <p:graphicFrame>
        <p:nvGraphicFramePr>
          <p:cNvPr id="7" name="Table 6"/>
          <p:cNvGraphicFramePr>
            <a:graphicFrameLocks noGrp="1"/>
          </p:cNvGraphicFramePr>
          <p:nvPr/>
        </p:nvGraphicFramePr>
        <p:xfrm>
          <a:off x="640080" y="1417320"/>
          <a:ext cx="10908792" cy="2011680"/>
        </p:xfrm>
        <a:graphic>
          <a:graphicData uri="http://schemas.openxmlformats.org/drawingml/2006/table">
            <a:tbl>
              <a:tblPr bandRow="1">
                <a:tableStyleId>{5C22544A-7EE6-4342-B048-85BDC9FD1C3A}</a:tableStyleId>
              </a:tblPr>
              <a:tblGrid>
                <a:gridCol w="5454396"/>
                <a:gridCol w="5454396"/>
              </a:tblGrid>
              <a:tr h="502920">
                <a:tc>
                  <a:txBody>
                    <a:bodyPr wrap="square"/>
                    <a:lstStyle/>
                    <a:p>
                      <a:pPr algn="l"/>
                      <a:r>
                        <a:rPr sz="1100" b="1">
                          <a:solidFill>
                            <a:srgbClr val="FFFFFF"/>
                          </a:solidFill>
                        </a:rPr>
                        <a:t>System Requirement</a:t>
                      </a:r>
                    </a:p>
                  </a:txBody>
                  <a:tcPr marL="82296" marR="82296" marT="36576" marB="36576" anchor="ctr">
                    <a:solidFill>
                      <a:srgbClr val="0EA5B7"/>
                    </a:solidFill>
                  </a:tcPr>
                </a:tc>
                <a:tc>
                  <a:txBody>
                    <a:bodyPr wrap="square"/>
                    <a:lstStyle/>
                    <a:p>
                      <a:pPr algn="l"/>
                      <a:r>
                        <a:rPr sz="1100" b="1">
                          <a:solidFill>
                            <a:srgbClr val="FFFFFF"/>
                          </a:solidFill>
                        </a:rPr>
                        <a:t>Description</a:t>
                      </a:r>
                    </a:p>
                  </a:txBody>
                  <a:tcPr marL="82296" marR="82296" marT="36576" marB="36576" anchor="ctr">
                    <a:solidFill>
                      <a:srgbClr val="0EA5B7"/>
                    </a:solidFill>
                  </a:tcPr>
                </a:tc>
              </a:tr>
              <a:tr h="502920">
                <a:tc>
                  <a:txBody>
                    <a:bodyPr wrap="square"/>
                    <a:lstStyle/>
                    <a:p>
                      <a:pPr algn="l"/>
                      <a:r>
                        <a:rPr sz="1000" b="0">
                          <a:solidFill>
                            <a:srgbClr val="1E293B"/>
                          </a:solidFill>
                        </a:rPr>
                        <a:t>Operating System</a:t>
                      </a:r>
                    </a:p>
                  </a:txBody>
                  <a:tcPr marL="82296" marR="82296" marT="36576" marB="36576" anchor="ctr">
                    <a:solidFill>
                      <a:srgbClr val="F1F5F9"/>
                    </a:solidFill>
                  </a:tcPr>
                </a:tc>
                <a:tc>
                  <a:txBody>
                    <a:bodyPr wrap="square"/>
                    <a:lstStyle/>
                    <a:p>
                      <a:pPr algn="l"/>
                      <a:r>
                        <a:rPr sz="1000" b="0">
                          <a:solidFill>
                            <a:srgbClr val="1E293B"/>
                          </a:solidFill>
                        </a:rPr>
                        <a:t>Windows 10 or Linux (Ubuntu 18.04 or later)</a:t>
                      </a:r>
                    </a:p>
                  </a:txBody>
                  <a:tcPr marL="82296" marR="82296" marT="36576" marB="36576" anchor="ctr">
                    <a:solidFill>
                      <a:srgbClr val="F1F5F9"/>
                    </a:solidFill>
                  </a:tcPr>
                </a:tc>
              </a:tr>
              <a:tr h="502920">
                <a:tc>
                  <a:txBody>
                    <a:bodyPr wrap="square"/>
                    <a:lstStyle/>
                    <a:p>
                      <a:pPr algn="l"/>
                      <a:r>
                        <a:rPr sz="1000" b="0">
                          <a:solidFill>
                            <a:srgbClr val="1E293B"/>
                          </a:solidFill>
                        </a:rPr>
                        <a:t>NVIDIA GPU</a:t>
                      </a:r>
                    </a:p>
                  </a:txBody>
                  <a:tcPr marL="82296" marR="82296" marT="36576" marB="36576" anchor="ctr">
                    <a:solidFill>
                      <a:srgbClr val="F8FAFC"/>
                    </a:solidFill>
                  </a:tcPr>
                </a:tc>
                <a:tc>
                  <a:txBody>
                    <a:bodyPr wrap="square"/>
                    <a:lstStyle/>
                    <a:p>
                      <a:pPr algn="l"/>
                      <a:r>
                        <a:rPr sz="1000" b="0">
                          <a:solidFill>
                            <a:srgbClr val="1E293B"/>
                          </a:solidFill>
                        </a:rPr>
                        <a:t>Quadro or Tesla with a minimum of 8GB of VRAM</a:t>
                      </a:r>
                    </a:p>
                  </a:txBody>
                  <a:tcPr marL="82296" marR="82296" marT="36576" marB="36576" anchor="ctr">
                    <a:solidFill>
                      <a:srgbClr val="F8FAFC"/>
                    </a:solidFill>
                  </a:tcPr>
                </a:tc>
              </a:tr>
              <a:tr h="502920">
                <a:tc>
                  <a:txBody>
                    <a:bodyPr wrap="square"/>
                    <a:lstStyle/>
                    <a:p>
                      <a:pPr algn="l"/>
                      <a:r>
                        <a:rPr sz="1000" b="0">
                          <a:solidFill>
                            <a:srgbClr val="1E293B"/>
                          </a:solidFill>
                        </a:rPr>
                        <a:t>CPU</a:t>
                      </a:r>
                    </a:p>
                  </a:txBody>
                  <a:tcPr marL="82296" marR="82296" marT="36576" marB="36576" anchor="ctr">
                    <a:solidFill>
                      <a:srgbClr val="F1F5F9"/>
                    </a:solidFill>
                  </a:tcPr>
                </a:tc>
                <a:tc>
                  <a:txBody>
                    <a:bodyPr wrap="square"/>
                    <a:lstStyle/>
                    <a:p>
                      <a:pPr algn="l"/>
                      <a:r>
                        <a:rPr sz="1000" b="0">
                          <a:solidFill>
                            <a:srgbClr val="1E293B"/>
                          </a:solidFill>
                        </a:rPr>
                        <a:t>Intel Core i7 or AMD Ryzen 7 (3.5GHz or higher)</a:t>
                      </a:r>
                    </a:p>
                  </a:txBody>
                  <a:tcPr marL="82296" marR="82296" marT="36576" marB="36576" anchor="ctr">
                    <a:solidFill>
                      <a:srgbClr val="F1F5F9"/>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2377440"/>
            <a:ext cx="10908792" cy="1463040"/>
          </a:xfrm>
          <a:prstGeom prst="rect">
            <a:avLst/>
          </a:prstGeom>
          <a:noFill/>
        </p:spPr>
        <p:txBody>
          <a:bodyPr wrap="square" anchor="ctr">
            <a:spAutoFit/>
          </a:bodyPr>
          <a:lstStyle/>
          <a:p>
            <a:pPr algn="ctr"/>
            <a:r>
              <a:rPr sz="5200" b="1">
                <a:solidFill>
                  <a:srgbClr val="FFFFFF"/>
                </a:solidFill>
                <a:latin typeface="Helvetica-Bold"/>
              </a:rPr>
              <a:t>Thank you</a:t>
            </a:r>
          </a:p>
        </p:txBody>
      </p:sp>
      <p:sp>
        <p:nvSpPr>
          <p:cNvPr id="3" name="Rectangle 2"/>
          <p:cNvSpPr/>
          <p:nvPr/>
        </p:nvSpPr>
        <p:spPr>
          <a:xfrm>
            <a:off x="4905756" y="3931920"/>
            <a:ext cx="2377440" cy="548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60520"/>
            <a:ext cx="10908792" cy="640080"/>
          </a:xfrm>
          <a:prstGeom prst="rect">
            <a:avLst/>
          </a:prstGeom>
          <a:noFill/>
        </p:spPr>
        <p:txBody>
          <a:bodyPr wrap="square">
            <a:spAutoFit/>
          </a:bodyPr>
          <a:lstStyle/>
          <a:p>
            <a:pPr algn="ctr"/>
            <a:r>
              <a:rPr sz="1800" b="0">
                <a:solidFill>
                  <a:srgbClr val="FFFFFF"/>
                </a:solidFill>
              </a:rPr>
              <a:t>Ajace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