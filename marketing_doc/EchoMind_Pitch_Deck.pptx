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8F9E"/>
                </a:solidFill>
                <a:latin typeface="Calibri"/>
              </a:rPr>
              <a:t>AJACE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EchoMind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97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 i="0">
                <a:solidFill>
                  <a:srgbClr val="93AEB8"/>
                </a:solidFill>
                <a:latin typeface="Calibri"/>
              </a:rPr>
              <a:t>The private AI assistant that can sit in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7FA6B2"/>
                </a:solidFill>
                <a:latin typeface="Calibri"/>
              </a:rPr>
              <a:t>Answers from your own documents. Listens to your meetings. Speaks when spoken to. Runs entirely on one machine you own — with the network cable unplugged.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440680"/>
            <a:ext cx="1168603" cy="310896"/>
          </a:xfrm>
          <a:prstGeom prst="rect">
            <a:avLst/>
          </a:prstGeom>
          <a:solidFill>
            <a:srgbClr val="0B1F2A"/>
          </a:solidFill>
          <a:ln w="12700">
            <a:solidFill>
              <a:srgbClr val="0E8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0E8F9E"/>
                </a:solidFill>
                <a:latin typeface="Calibri"/>
              </a:rPr>
              <a:t>On-premises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63547" y="5440680"/>
            <a:ext cx="1347825" cy="310896"/>
          </a:xfrm>
          <a:prstGeom prst="rect">
            <a:avLst/>
          </a:prstGeom>
          <a:solidFill>
            <a:srgbClr val="0B1F2A"/>
          </a:solidFill>
          <a:ln w="12700">
            <a:solidFill>
              <a:srgbClr val="0E8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0E8F9E"/>
                </a:solidFill>
                <a:latin typeface="Calibri"/>
              </a:rPr>
              <a:t>Cited 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9388" y="5440680"/>
            <a:ext cx="1706270" cy="310896"/>
          </a:xfrm>
          <a:prstGeom prst="rect">
            <a:avLst/>
          </a:prstGeom>
          <a:solidFill>
            <a:srgbClr val="0B1F2A"/>
          </a:solidFill>
          <a:ln w="12700">
            <a:solidFill>
              <a:srgbClr val="0E8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0E8F9E"/>
                </a:solidFill>
                <a:latin typeface="Calibri"/>
              </a:rPr>
              <a:t>Full-duplex voice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73675" y="5440680"/>
            <a:ext cx="1258214" cy="310896"/>
          </a:xfrm>
          <a:prstGeom prst="rect">
            <a:avLst/>
          </a:prstGeom>
          <a:solidFill>
            <a:srgbClr val="0B1F2A"/>
          </a:solidFill>
          <a:ln w="12700">
            <a:solidFill>
              <a:srgbClr val="0E8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0E8F9E"/>
                </a:solidFill>
                <a:latin typeface="Calibri"/>
              </a:rPr>
              <a:t>Multi-tenant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9905" y="5440680"/>
            <a:ext cx="1347825" cy="310896"/>
          </a:xfrm>
          <a:prstGeom prst="rect">
            <a:avLst/>
          </a:prstGeom>
          <a:solidFill>
            <a:srgbClr val="0B1F2A"/>
          </a:solidFill>
          <a:ln w="12700">
            <a:solidFill>
              <a:srgbClr val="0E8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0E8F9E"/>
                </a:solidFill>
                <a:latin typeface="Calibri"/>
              </a:rPr>
              <a:t>Peer-reviewed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5332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A7280"/>
                </a:solidFill>
                <a:latin typeface="Calibri"/>
              </a:rPr>
              <a:t>Internal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03A5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AI stopped at the office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The organizations with the most to gain from AI are the ones least able to use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75104"/>
            <a:ext cx="329184" cy="457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53003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B1F2A"/>
                </a:solidFill>
                <a:latin typeface="Calibri"/>
              </a:rPr>
              <a:t>Confidential work is off-limits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50592"/>
            <a:ext cx="5300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2B363D"/>
                </a:solidFill>
                <a:latin typeface="Calibri"/>
              </a:rPr>
              <a:t>Legal, clinical, financial and government teams cannot paste real material into a cloud chatbot. So the AI everyone talks about is used for drafting emails, not for the work that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975104"/>
            <a:ext cx="329184" cy="457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447" y="2103120"/>
            <a:ext cx="53003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B1F2A"/>
                </a:solidFill>
                <a:latin typeface="Calibri"/>
              </a:rPr>
              <a:t>Knowledge is scattered and silent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450592"/>
            <a:ext cx="5300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2B363D"/>
                </a:solidFill>
                <a:latin typeface="Calibri"/>
              </a:rPr>
              <a:t>Policies sit in one system, contracts in another — and the most valuable context of all, what was actually said in a meeting, is never written down.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73552"/>
            <a:ext cx="329184" cy="457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401568"/>
            <a:ext cx="53003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B1F2A"/>
                </a:solidFill>
                <a:latin typeface="Calibri"/>
              </a:rPr>
              <a:t>Generic AI invents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49039"/>
            <a:ext cx="5300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2B363D"/>
                </a:solidFill>
                <a:latin typeface="Calibri"/>
              </a:rPr>
              <a:t>A confident, unsourced answer is not a smaller version of a correct one. In a regulated workflow it is a liability.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3273552"/>
            <a:ext cx="329184" cy="457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3401568"/>
            <a:ext cx="53003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B1F2A"/>
                </a:solidFill>
                <a:latin typeface="Calibri"/>
              </a:rPr>
              <a:t>Expertise cannot be everywhere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749039"/>
            <a:ext cx="5300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2B363D"/>
                </a:solidFill>
                <a:latin typeface="Calibri"/>
              </a:rPr>
              <a:t>One compliance officer, one senior partner, one experienced clinician cannot sit in every room at once.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81728"/>
            <a:ext cx="11057839" cy="475488"/>
          </a:xfrm>
          <a:prstGeom prst="rect">
            <a:avLst/>
          </a:prstGeom>
          <a:solidFill>
            <a:srgbClr val="F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800600"/>
            <a:ext cx="10692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1F2A"/>
                </a:solidFill>
                <a:latin typeface="Calibri"/>
              </a:rPr>
              <a:t>The result: the more sensitive and valuable your knowledge, the less AI you are allowed to use on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E8F9E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Bring the AI to the data — not the data to the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EchoMind is a complete AI assistant on a single appliance inside the customer's own walls.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75104"/>
            <a:ext cx="3478682" cy="1517904"/>
          </a:xfrm>
          <a:prstGeom prst="rect">
            <a:avLst/>
          </a:prstGeom>
          <a:solidFill>
            <a:srgbClr val="F4F8F9"/>
          </a:solidFill>
          <a:ln w="12700">
            <a:solidFill>
              <a:srgbClr val="86C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75104"/>
            <a:ext cx="3478682" cy="54864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2A"/>
                </a:solidFill>
                <a:latin typeface="Calibri"/>
              </a:rPr>
              <a:t>Reads your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42032"/>
            <a:ext cx="31129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 i="0">
                <a:solidFill>
                  <a:srgbClr val="2B363D"/>
                </a:solidFill>
                <a:latin typeface="Calibri"/>
              </a:rPr>
              <a:t>Upload policies, contracts, manuals. Ask in plain language. Every answer cites its source — document, section and page.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506" y="1975104"/>
            <a:ext cx="3478682" cy="1517904"/>
          </a:xfrm>
          <a:prstGeom prst="rect">
            <a:avLst/>
          </a:prstGeom>
          <a:solidFill>
            <a:srgbClr val="F4F8F9"/>
          </a:solidFill>
          <a:ln w="12700">
            <a:solidFill>
              <a:srgbClr val="8EB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6506" y="1975104"/>
            <a:ext cx="3478682" cy="54864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9386" y="219456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2A"/>
                </a:solidFill>
                <a:latin typeface="Calibri"/>
              </a:rPr>
              <a:t>Hears your 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2542032"/>
            <a:ext cx="31129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 i="0">
                <a:solidFill>
                  <a:srgbClr val="2B363D"/>
                </a:solidFill>
                <a:latin typeface="Calibri"/>
              </a:rPr>
              <a:t>Live transcription with a background check against your own policy, flagging what is unsupported or non-compliant as it is said.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6084" y="1975104"/>
            <a:ext cx="3478682" cy="1517904"/>
          </a:xfrm>
          <a:prstGeom prst="rect">
            <a:avLst/>
          </a:prstGeom>
          <a:solidFill>
            <a:srgbClr val="F4F8F9"/>
          </a:solidFill>
          <a:ln w="12700">
            <a:solidFill>
              <a:srgbClr val="A7A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6084" y="1975104"/>
            <a:ext cx="3478682" cy="54864"/>
          </a:xfrm>
          <a:prstGeom prst="rect">
            <a:avLst/>
          </a:prstGeom>
          <a:solidFill>
            <a:srgbClr val="4F5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8964" y="219456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2A"/>
                </a:solidFill>
                <a:latin typeface="Calibri"/>
              </a:rPr>
              <a:t>Talks with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2542032"/>
            <a:ext cx="31129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 i="0">
                <a:solidFill>
                  <a:srgbClr val="2B363D"/>
                </a:solidFill>
                <a:latin typeface="Calibri"/>
              </a:rPr>
              <a:t>A real spoken conversation — responds in about half a second and stops the moment you interrupt.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675888"/>
            <a:ext cx="3478682" cy="1517904"/>
          </a:xfrm>
          <a:prstGeom prst="rect">
            <a:avLst/>
          </a:prstGeom>
          <a:solidFill>
            <a:srgbClr val="F4F8F9"/>
          </a:solidFill>
          <a:ln w="12700">
            <a:solidFill>
              <a:srgbClr val="D0B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675888"/>
            <a:ext cx="3478682" cy="54864"/>
          </a:xfrm>
          <a:prstGeom prst="rect">
            <a:avLst/>
          </a:prstGeom>
          <a:solidFill>
            <a:srgbClr val="A2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95344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2A"/>
                </a:solidFill>
                <a:latin typeface="Calibri"/>
              </a:rPr>
              <a:t>Writes your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42816"/>
            <a:ext cx="31129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 i="0">
                <a:solidFill>
                  <a:srgbClr val="2B363D"/>
                </a:solidFill>
                <a:latin typeface="Calibri"/>
              </a:rPr>
              <a:t>Turns a brief into a finished PDF or PowerPoint in your template — minutes, memos, reports, decks.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6506" y="3675888"/>
            <a:ext cx="3478682" cy="1517904"/>
          </a:xfrm>
          <a:prstGeom prst="rect">
            <a:avLst/>
          </a:prstGeom>
          <a:solidFill>
            <a:srgbClr val="F4F8F9"/>
          </a:solidFill>
          <a:ln w="12700">
            <a:solidFill>
              <a:srgbClr val="D79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56506" y="3675888"/>
            <a:ext cx="3478682" cy="54864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9386" y="3895344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2A"/>
                </a:solidFill>
                <a:latin typeface="Calibri"/>
              </a:rPr>
              <a:t>Keeps tenants apart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9386" y="4242816"/>
            <a:ext cx="31129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 i="0">
                <a:solidFill>
                  <a:srgbClr val="2B363D"/>
                </a:solidFill>
                <a:latin typeface="Calibri"/>
              </a:rPr>
              <a:t>One box can serve legal, clinical and finance teams with knowledge that cannot cross between them.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6084" y="3675888"/>
            <a:ext cx="3478682" cy="1517904"/>
          </a:xfrm>
          <a:prstGeom prst="rect">
            <a:avLst/>
          </a:prstGeom>
          <a:solidFill>
            <a:srgbClr val="F4F8F9"/>
          </a:solidFill>
          <a:ln w="12700">
            <a:solidFill>
              <a:srgbClr val="88B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46084" y="3675888"/>
            <a:ext cx="3478682" cy="54864"/>
          </a:xfrm>
          <a:prstGeom prst="rect">
            <a:avLst/>
          </a:prstGeom>
          <a:solidFill>
            <a:srgbClr val="12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8964" y="3895344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2A"/>
                </a:solidFill>
                <a:latin typeface="Calibri"/>
              </a:rPr>
              <a:t>Never phones home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8964" y="4242816"/>
            <a:ext cx="31129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 i="0">
                <a:solidFill>
                  <a:srgbClr val="2B363D"/>
                </a:solidFill>
                <a:latin typeface="Calibri"/>
              </a:rPr>
              <a:t>No cloud, no third-party processor, no training on your data. It works with the cable unplugged.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4F5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F52C4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An assistant that can stay in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Because it runs on-premises and speaks naturally, EchoMind is not confined to a browser tab. It can be installed where the work actually happens.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2572435" cy="2395728"/>
          </a:xfrm>
          <a:prstGeom prst="rect">
            <a:avLst/>
          </a:prstGeom>
          <a:solidFill>
            <a:srgbClr val="FFFFFF"/>
          </a:solidFill>
          <a:ln w="20320">
            <a:solidFill>
              <a:srgbClr val="1D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76272"/>
            <a:ext cx="2572435" cy="438912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95144"/>
            <a:ext cx="25724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 THE MEETING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43200"/>
            <a:ext cx="25724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2A"/>
                </a:solidFill>
                <a:latin typeface="Calibri"/>
              </a:rPr>
              <a:t>A permanent participant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145536"/>
            <a:ext cx="21700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hears the whole discussion</a:t>
            </a:r>
          </a:p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flags a wrong statement live</a:t>
            </a:r>
          </a:p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writes the minutes and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5395" y="2176272"/>
            <a:ext cx="2572435" cy="2395728"/>
          </a:xfrm>
          <a:prstGeom prst="rect">
            <a:avLst/>
          </a:prstGeom>
          <a:solidFill>
            <a:srgbClr val="FFFFFF"/>
          </a:solidFill>
          <a:ln w="20320">
            <a:solidFill>
              <a:srgbClr val="4F5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5395" y="2176272"/>
            <a:ext cx="2572435" cy="438912"/>
          </a:xfrm>
          <a:prstGeom prst="rect">
            <a:avLst/>
          </a:prstGeom>
          <a:solidFill>
            <a:srgbClr val="4F5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5395" y="2295144"/>
            <a:ext cx="25724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ON THE 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5395" y="2743200"/>
            <a:ext cx="25724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2A"/>
                </a:solidFill>
                <a:latin typeface="Calibri"/>
              </a:rPr>
              <a:t>A personal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6563" y="3145536"/>
            <a:ext cx="21700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answers from the case or chart</a:t>
            </a:r>
          </a:p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drafts the document</a:t>
            </a:r>
          </a:p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never sends data outside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2176272"/>
            <a:ext cx="2572435" cy="2395728"/>
          </a:xfrm>
          <a:prstGeom prst="rect">
            <a:avLst/>
          </a:prstGeom>
          <a:solidFill>
            <a:srgbClr val="FFFFFF"/>
          </a:solidFill>
          <a:ln w="20320">
            <a:solidFill>
              <a:srgbClr val="A2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2176272"/>
            <a:ext cx="2572435" cy="438912"/>
          </a:xfrm>
          <a:prstGeom prst="rect">
            <a:avLst/>
          </a:prstGeom>
          <a:solidFill>
            <a:srgbClr val="A2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3863" y="2295144"/>
            <a:ext cx="25724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AT THE FRONT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3863" y="2743200"/>
            <a:ext cx="25724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2A"/>
                </a:solidFill>
                <a:latin typeface="Calibri"/>
              </a:rPr>
              <a:t>A support co-pilot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3145536"/>
            <a:ext cx="21700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listens to the customer call</a:t>
            </a:r>
          </a:p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surfaces the right answer</a:t>
            </a:r>
          </a:p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checks what was promised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331" y="2176272"/>
            <a:ext cx="2572435" cy="2395728"/>
          </a:xfrm>
          <a:prstGeom prst="rect">
            <a:avLst/>
          </a:prstGeom>
          <a:solidFill>
            <a:srgbClr val="FFFFFF"/>
          </a:solidFill>
          <a:ln w="20320">
            <a:solidFill>
              <a:srgbClr val="128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331" y="2176272"/>
            <a:ext cx="2572435" cy="438912"/>
          </a:xfrm>
          <a:prstGeom prst="rect">
            <a:avLst/>
          </a:prstGeom>
          <a:solidFill>
            <a:srgbClr val="12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331" y="2295144"/>
            <a:ext cx="25724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 THE 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331" y="2743200"/>
            <a:ext cx="25724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2A"/>
                </a:solidFill>
                <a:latin typeface="Calibri"/>
              </a:rPr>
              <a:t>An offline expert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499" y="3145536"/>
            <a:ext cx="21700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works with no connectivity</a:t>
            </a:r>
          </a:p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hands-free voice</a:t>
            </a:r>
          </a:p>
          <a:p>
            <a:pPr algn="l" marL="182880" indent="-18288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2B363D"/>
                </a:solidFill>
                <a:latin typeface="Calibri"/>
              </a:rPr>
              <a:t>full manual library on 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84632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E8F9E"/>
                </a:solidFill>
                <a:latin typeface="Calibri"/>
              </a:rPr>
              <a:t>What makes this possible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157216"/>
            <a:ext cx="25861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1F2A"/>
                </a:solidFill>
                <a:latin typeface="Calibri"/>
              </a:rPr>
              <a:t>No cloud dependency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413248"/>
            <a:ext cx="2586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363D"/>
                </a:solidFill>
                <a:latin typeface="Calibri"/>
              </a:rPr>
              <a:t>it can live in a locked room or a vehicle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0823" y="5157216"/>
            <a:ext cx="25861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1F2A"/>
                </a:solidFill>
                <a:latin typeface="Calibri"/>
              </a:rPr>
              <a:t>Speaks and listens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0823" y="5413248"/>
            <a:ext cx="2586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363D"/>
                </a:solidFill>
                <a:latin typeface="Calibri"/>
              </a:rPr>
              <a:t>it works without a keyboard, hands-free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4719" y="5157216"/>
            <a:ext cx="25861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1F2A"/>
                </a:solidFill>
                <a:latin typeface="Calibri"/>
              </a:rPr>
              <a:t>Knows when to speak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4719" y="5413248"/>
            <a:ext cx="2586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363D"/>
                </a:solidFill>
                <a:latin typeface="Calibri"/>
              </a:rPr>
              <a:t>silent by default; surfaces only high-confidence findings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8615" y="5157216"/>
            <a:ext cx="25861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1F2A"/>
                </a:solidFill>
                <a:latin typeface="Calibri"/>
              </a:rPr>
              <a:t>Separated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8615" y="5413248"/>
            <a:ext cx="2586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363D"/>
                </a:solidFill>
                <a:latin typeface="Calibri"/>
              </a:rPr>
              <a:t>the room's tenant sees only the room's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4F5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F52C4"/>
                </a:solidFill>
                <a:latin typeface="Calibri"/>
              </a:rPr>
              <a:t>PERSONA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The Lawyer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Private legal associate — on the desk and in the client meeting.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7510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F52C4"/>
                </a:solidFill>
                <a:latin typeface="Calibri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49424"/>
            <a:ext cx="532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363D"/>
                </a:solidFill>
                <a:latin typeface="Calibri"/>
              </a:rPr>
              <a:t>Partners, associates and in-house counsel working across contracts, regulation, precedent and privileged client material.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8094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F52C4"/>
                </a:solidFill>
                <a:latin typeface="Calibri"/>
              </a:rPr>
              <a:t>WHAT SLOWS THEM DOWN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73552"/>
            <a:ext cx="532775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Re-reading the same agreements to find one clause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Precedent buried across matters nobody can search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Public AI tools forbidden — privilege and confidentiality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Client calls where a commitment is made and never 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7015" y="197510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F52C4"/>
                </a:solidFill>
                <a:latin typeface="Calibri"/>
              </a:rPr>
              <a:t>WHAT ECHOMIND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7015" y="2249424"/>
            <a:ext cx="532775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Ask across the whole contract library and get the clause, with document, section and page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Contract-review memos drafted to the firm's template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Client meetings transcribed, with commitments and deadlines extracted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Live flagging of one-sided, missing or risky clauses against the firm's playbook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7015" y="4247388"/>
            <a:ext cx="5327751" cy="1060704"/>
          </a:xfrm>
          <a:prstGeom prst="rect">
            <a:avLst/>
          </a:prstGeom>
          <a:solidFill>
            <a:srgbClr val="F0F1FA"/>
          </a:solidFill>
          <a:ln w="12700">
            <a:solidFill>
              <a:srgbClr val="4F5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384548"/>
            <a:ext cx="49619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4F52C4"/>
                </a:solidFill>
                <a:latin typeface="Calibri"/>
              </a:rPr>
              <a:t>THE MOMENT IT EARNS ITS KEEP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649724"/>
            <a:ext cx="49619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50" b="0" i="0">
                <a:solidFill>
                  <a:srgbClr val="2B363D"/>
                </a:solidFill>
                <a:latin typeface="Calibri"/>
              </a:rPr>
              <a:t>Mid-negotiation, counsel asks what the liability cap was in the 2023 agreement — and gets the clause and page in seconds, without the file leaving the building.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11057839" cy="603504"/>
          </a:xfrm>
          <a:prstGeom prst="rect">
            <a:avLst/>
          </a:prstGeom>
          <a:solidFill>
            <a:srgbClr val="EF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64008" cy="603504"/>
          </a:xfrm>
          <a:prstGeom prst="rect">
            <a:avLst/>
          </a:prstGeom>
          <a:solidFill>
            <a:srgbClr val="4F5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881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>
                <a:solidFill>
                  <a:srgbClr val="0B1F2A"/>
                </a:solidFill>
                <a:latin typeface="Calibri"/>
              </a:rPr>
              <a:t>"It reads every contract we have ever signed, and it can tell me where it got the answer."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12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PERSONA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The Doctor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Clinical assistant — at the desk, at the bedside, hands-free.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7510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49424"/>
            <a:ext cx="532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363D"/>
                </a:solidFill>
                <a:latin typeface="Calibri"/>
              </a:rPr>
              <a:t>Physicians, nurses and clinical governance teams working under protocol, with PHI that cannot leave the institution.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8094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WHAT SLOWS THEM DOWN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73552"/>
            <a:ext cx="532775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Guidelines change; recalling the current one takes time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Documentation eats the evening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PHI rules out every cloud AI service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A drug interaction can be missed under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7015" y="197510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WHAT ECHOMIND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7015" y="2249424"/>
            <a:ext cx="532775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Ask protocols and formulary in plain language, with the source shown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Hands-free voice for use while examining or scrubbed in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Consultations transcribed and turned into a structured visit note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Live flagging of interactions, contraindications and dosing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7015" y="4247388"/>
            <a:ext cx="5327751" cy="1060704"/>
          </a:xfrm>
          <a:prstGeom prst="rect">
            <a:avLst/>
          </a:prstGeom>
          <a:solidFill>
            <a:srgbClr val="ECF4F2"/>
          </a:solidFill>
          <a:ln w="12700">
            <a:solidFill>
              <a:srgbClr val="128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384548"/>
            <a:ext cx="49619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2805F"/>
                </a:solidFill>
                <a:latin typeface="Calibri"/>
              </a:rPr>
              <a:t>THE MOMENT IT EARNS ITS KEEP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649724"/>
            <a:ext cx="49619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50" b="0" i="0">
                <a:solidFill>
                  <a:srgbClr val="2B363D"/>
                </a:solidFill>
                <a:latin typeface="Calibri"/>
              </a:rPr>
              <a:t>During a consultation the assistant quietly flags that the proposed medication interacts with the patient's existing prescription — while the patient is still in the room.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11057839" cy="603504"/>
          </a:xfrm>
          <a:prstGeom prst="rect">
            <a:avLst/>
          </a:prstGeom>
          <a:solidFill>
            <a:srgbClr val="E9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64008" cy="603504"/>
          </a:xfrm>
          <a:prstGeom prst="rect">
            <a:avLst/>
          </a:prstGeom>
          <a:solidFill>
            <a:srgbClr val="12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881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>
                <a:solidFill>
                  <a:srgbClr val="0B1F2A"/>
                </a:solidFill>
                <a:latin typeface="Calibri"/>
              </a:rPr>
              <a:t>"Documentation support and a second pair of eyes — and the data never leaves the hospital."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D6FB8"/>
                </a:solidFill>
                <a:latin typeface="Calibri"/>
              </a:rPr>
              <a:t>PERSONA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The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Meeting facilitator — a permanent participant in the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7510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D6FB8"/>
                </a:solidFill>
                <a:latin typeface="Calibri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49424"/>
            <a:ext cx="532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363D"/>
                </a:solidFill>
                <a:latin typeface="Calibri"/>
              </a:rPr>
              <a:t>Executives, chiefs of staff, PMO and operations leaders who live in meetings and own the follow-through.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8094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D6FB8"/>
                </a:solidFill>
                <a:latin typeface="Calibri"/>
              </a:rPr>
              <a:t>WHAT SLOWS THEM DOWN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73552"/>
            <a:ext cx="532775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Decisions are made and then disputed a month later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Minutes are somebody's evening job, and arrive late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Actions have no owner and no due date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Nobody can search what was said last quarter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7015" y="197510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D6FB8"/>
                </a:solidFill>
                <a:latin typeface="Calibri"/>
              </a:rPr>
              <a:t>WHAT ECHOMIND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7015" y="2249424"/>
            <a:ext cx="5327751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Sits in the room and transcribes the whole discussion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Separates speakers and produces an analyzed report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Extracts decisions, commitments and action items with owners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Flags anything said that contradicts company policy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Makes every past meeting searchable alongside documents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7015" y="4014215"/>
            <a:ext cx="5327751" cy="1060704"/>
          </a:xfrm>
          <a:prstGeom prst="rect">
            <a:avLst/>
          </a:prstGeom>
          <a:solidFill>
            <a:srgbClr val="ECF3F9"/>
          </a:solidFill>
          <a:ln w="12700">
            <a:solidFill>
              <a:srgbClr val="1D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151376"/>
            <a:ext cx="49619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6FB8"/>
                </a:solidFill>
                <a:latin typeface="Calibri"/>
              </a:rPr>
              <a:t>THE MOMENT IT EARNS ITS KEEP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416552"/>
            <a:ext cx="49619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50" b="0" i="0">
                <a:solidFill>
                  <a:srgbClr val="2B363D"/>
                </a:solidFill>
                <a:latin typeface="Calibri"/>
              </a:rPr>
              <a:t>Someone asks what was agreed about the vendor in March. The answer comes back with the sentence, the speaker and the date — and the discussion moves 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11057839" cy="603504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64008" cy="603504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881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>
                <a:solidFill>
                  <a:srgbClr val="0B1F2A"/>
                </a:solidFill>
                <a:latin typeface="Calibri"/>
              </a:rPr>
              <a:t>"Minutes stop being a chore, and last quarter stops being a black hole."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A2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2620B"/>
                </a:solidFill>
                <a:latin typeface="Calibri"/>
              </a:rPr>
              <a:t>PERSONA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The Support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Customer care co-pilot — on the call,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7510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2620B"/>
                </a:solidFill>
                <a:latin typeface="Calibri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49424"/>
            <a:ext cx="532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B363D"/>
                </a:solidFill>
                <a:latin typeface="Calibri"/>
              </a:rPr>
              <a:t>Contact-center and customer-care teams answering product, policy, billing and warranty questions at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8094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2620B"/>
                </a:solidFill>
                <a:latin typeface="Calibri"/>
              </a:rPr>
              <a:t>WHAT SLOWS THEM DOWN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73552"/>
            <a:ext cx="532775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New agents take months to learn the product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Answers vary between agents — and some are wrong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Hold time while the agent searches a wiki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Promises made on calls that policy does not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7015" y="1975104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2620B"/>
                </a:solidFill>
                <a:latin typeface="Calibri"/>
              </a:rPr>
              <a:t>WHAT ECHOMIND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7015" y="2249424"/>
            <a:ext cx="5327751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Listens to the live call and surfaces the right answer from the real policy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Every answer cited, so the agent can quote with confidence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Flags a promise that contradicts warranty or pricing policy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Produces the call summary and follow-up automatically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Customer data never leaves the contact center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7015" y="4247388"/>
            <a:ext cx="5327751" cy="1060704"/>
          </a:xfrm>
          <a:prstGeom prst="rect">
            <a:avLst/>
          </a:prstGeom>
          <a:solidFill>
            <a:srgbClr val="F7F2EB"/>
          </a:solidFill>
          <a:ln w="12700">
            <a:solidFill>
              <a:srgbClr val="A2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384548"/>
            <a:ext cx="49619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A2620B"/>
                </a:solidFill>
                <a:latin typeface="Calibri"/>
              </a:rPr>
              <a:t>THE MOMENT IT EARNS ITS KEEP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649724"/>
            <a:ext cx="49619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50" b="0" i="0">
                <a:solidFill>
                  <a:srgbClr val="2B363D"/>
                </a:solidFill>
                <a:latin typeface="Calibri"/>
              </a:rPr>
              <a:t>A new agent is asked an obscure warranty question. The correct answer, with the clause behind it, appears before the customer finishes the sentence.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11057839" cy="603504"/>
          </a:xfrm>
          <a:prstGeom prst="rect">
            <a:avLst/>
          </a:prstGeom>
          <a:solidFill>
            <a:srgbClr val="F6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64008" cy="603504"/>
          </a:xfrm>
          <a:prstGeom prst="rect">
            <a:avLst/>
          </a:prstGeom>
          <a:solidFill>
            <a:srgbClr val="A2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881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>
                <a:solidFill>
                  <a:srgbClr val="0B1F2A"/>
                </a:solidFill>
                <a:latin typeface="Calibri"/>
              </a:rPr>
              <a:t>"A first-week agent answers like a five-year veteran — and we can prove what was said."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E8F9E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Three steps, then it just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No integration project, no data migration, no cloud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975104"/>
            <a:ext cx="566928" cy="566928"/>
          </a:xfrm>
          <a:prstGeom prst="ellipse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112264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66544"/>
            <a:ext cx="268620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B1F2A"/>
                </a:solidFill>
                <a:latin typeface="Calibri"/>
              </a:rPr>
              <a:t>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24912"/>
            <a:ext cx="341772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0" i="0">
                <a:solidFill>
                  <a:srgbClr val="2B363D"/>
                </a:solidFill>
                <a:latin typeface="Calibri"/>
              </a:rPr>
              <a:t>One appliance, five containers, one command. No connectivity required.</a:t>
            </a:r>
          </a:p>
        </p:txBody>
      </p:sp>
      <p:sp>
        <p:nvSpPr>
          <p:cNvPr id="12" name="Oval 11"/>
          <p:cNvSpPr/>
          <p:nvPr/>
        </p:nvSpPr>
        <p:spPr>
          <a:xfrm>
            <a:off x="4386986" y="1975104"/>
            <a:ext cx="566928" cy="566928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6986" y="2112264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0218" y="2066544"/>
            <a:ext cx="268620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B1F2A"/>
                </a:solidFill>
                <a:latin typeface="Calibri"/>
              </a:rPr>
              <a:t>Feed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6986" y="2724912"/>
            <a:ext cx="341772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0" i="0">
                <a:solidFill>
                  <a:srgbClr val="2B363D"/>
                </a:solidFill>
                <a:latin typeface="Calibri"/>
              </a:rPr>
              <a:t>Upload documents. Let it listen to meetings. It indexes both into one searchable knowledge base.</a:t>
            </a:r>
          </a:p>
        </p:txBody>
      </p:sp>
      <p:sp>
        <p:nvSpPr>
          <p:cNvPr id="16" name="Oval 15"/>
          <p:cNvSpPr/>
          <p:nvPr/>
        </p:nvSpPr>
        <p:spPr>
          <a:xfrm>
            <a:off x="8207044" y="1975104"/>
            <a:ext cx="566928" cy="566928"/>
          </a:xfrm>
          <a:prstGeom prst="ellipse">
            <a:avLst/>
          </a:prstGeom>
          <a:solidFill>
            <a:srgbClr val="12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7044" y="2112264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0276" y="2066544"/>
            <a:ext cx="268620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B1F2A"/>
                </a:solidFill>
                <a:latin typeface="Calibri"/>
              </a:rPr>
              <a:t>Use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7044" y="2724912"/>
            <a:ext cx="341772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0" i="0">
                <a:solidFill>
                  <a:srgbClr val="2B363D"/>
                </a:solidFill>
                <a:latin typeface="Calibri"/>
              </a:rPr>
              <a:t>Type, talk, or leave it running in the room. Every answer cites its source.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30752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B4C7A"/>
                </a:solidFill>
                <a:latin typeface="Calibri"/>
              </a:rPr>
              <a:t>Under the hood — for the technical buyer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160520"/>
            <a:ext cx="64008" cy="64008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96512"/>
            <a:ext cx="51448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Hybrid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34256"/>
            <a:ext cx="514487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 b="0" i="0">
                <a:solidFill>
                  <a:srgbClr val="2B363D"/>
                </a:solidFill>
                <a:latin typeface="Calibri"/>
              </a:rPr>
              <a:t>Meaning search and exact-keyword search run together, then a second model re-reads the best passages against the question.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7015" y="4160520"/>
            <a:ext cx="64008" cy="64008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7" y="4096512"/>
            <a:ext cx="51448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Grounded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4334256"/>
            <a:ext cx="514487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 b="0" i="0">
                <a:solidFill>
                  <a:srgbClr val="2B363D"/>
                </a:solidFill>
                <a:latin typeface="Calibri"/>
              </a:rPr>
              <a:t>The answer model sees only the retrieved evidence, fenced as data — so a document cannot give it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946904"/>
            <a:ext cx="64008" cy="64008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82896"/>
            <a:ext cx="51448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Honest refusal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514487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 b="0" i="0">
                <a:solidFill>
                  <a:srgbClr val="2B363D"/>
                </a:solidFill>
                <a:latin typeface="Calibri"/>
              </a:rPr>
              <a:t>If nothing relevant clears the gate, it says the answer is not in the documents rather than guessing.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7015" y="4946904"/>
            <a:ext cx="64008" cy="64008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1607" y="4882896"/>
            <a:ext cx="51448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Isolation in the 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607" y="5120640"/>
            <a:ext cx="514487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 b="0" i="0">
                <a:solidFill>
                  <a:srgbClr val="2B363D"/>
                </a:solidFill>
                <a:latin typeface="Calibri"/>
              </a:rPr>
              <a:t>The tenant check runs inside the search itself, so another tenant's content never enters the ranking.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12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Measured, not claimed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An instrumented evaluation of this system has been accepted for publication at an international peer-reviewed conference (QASC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2028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12805F"/>
                </a:solidFill>
                <a:latin typeface="Calibri"/>
              </a:rPr>
              <a:t>0.98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1992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citation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8495" y="2176272"/>
            <a:ext cx="2028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12805F"/>
                </a:solidFill>
                <a:latin typeface="Calibri"/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8495" y="2743200"/>
            <a:ext cx="1992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correct refusals on unanswerable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0063" y="2176272"/>
            <a:ext cx="2028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12805F"/>
                </a:solidFill>
                <a:latin typeface="Calibri"/>
              </a:rPr>
              <a:t>0 /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0063" y="2743200"/>
            <a:ext cx="1992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cross-tenant leaks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2176272"/>
            <a:ext cx="2028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12805F"/>
                </a:solidFill>
                <a:latin typeface="Calibri"/>
              </a:rPr>
              <a:t>0.6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2743200"/>
            <a:ext cx="1992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to first spoken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3199" y="2176272"/>
            <a:ext cx="2028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12805F"/>
                </a:solidFill>
                <a:latin typeface="Calibri"/>
              </a:rPr>
              <a:t>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3199" y="2743200"/>
            <a:ext cx="1992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reduction in prompt-injection success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511296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WHAT WE 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803904"/>
            <a:ext cx="532775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Answers point at the right source, and it refuses when it should.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Tenant isolation held on every retrieval path audited.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A structural defense halved prompt-injection success versus merely instructing the model.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The dual-loop design is faster AND safer — removing the safety rule produced ungrounded claims on every turn.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7015" y="3511296"/>
            <a:ext cx="53277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03A5B"/>
                </a:solidFill>
                <a:latin typeface="Calibri"/>
              </a:rPr>
              <a:t>WHAT WE OPENLY REPORT AS 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7015" y="3803904"/>
            <a:ext cx="53277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Response timing can still reveal that a restricted document exists.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Blocked injection attempts are contained but not yet surfaced to the operator.</a:t>
            </a:r>
          </a:p>
          <a:p>
            <a:pPr algn="l" marL="182880" indent="-182880">
              <a:lnSpc>
                <a:spcPct val="110000"/>
              </a:lnSpc>
              <a:spcAft>
                <a:spcPts val="7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Human-panel evaluation of answer quality is not yet complete.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24144"/>
            <a:ext cx="11057839" cy="548640"/>
          </a:xfrm>
          <a:prstGeom prst="rect">
            <a:avLst/>
          </a:prstGeom>
          <a:solidFill>
            <a:srgbClr val="E9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879592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1F2A"/>
                </a:solidFill>
                <a:latin typeface="Calibri"/>
              </a:rPr>
              <a:t>Publishing the limitations is the point. Technical buyers verify claims — and almost no vendor in this category has any.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B4C7A"/>
                </a:solidFill>
                <a:latin typeface="Calibr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Why EchoMind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Every alternative forces a trade-off between capability and control. We remove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75104"/>
            <a:ext cx="2651760" cy="548640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075688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3218688" y="1975104"/>
            <a:ext cx="1481328" cy="548640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2075688"/>
            <a:ext cx="1261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Runs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0016" y="1975104"/>
            <a:ext cx="1481328" cy="548640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075688"/>
            <a:ext cx="1261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Cites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75104"/>
            <a:ext cx="1664208" cy="548640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75688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Refuses when unsure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45552" y="1975104"/>
            <a:ext cx="1755648" cy="548640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075688"/>
            <a:ext cx="1536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Live meeting check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975104"/>
            <a:ext cx="1664208" cy="548640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9216" y="2075688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Tenant isolation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23744"/>
            <a:ext cx="10698480" cy="457200"/>
          </a:xfrm>
          <a:prstGeom prst="rect">
            <a:avLst/>
          </a:prstGeom>
          <a:solidFill>
            <a:srgbClr val="F4F8F9"/>
          </a:solidFill>
          <a:ln w="635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651760"/>
            <a:ext cx="246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1F2A"/>
                </a:solidFill>
                <a:latin typeface="Calibri"/>
              </a:rPr>
              <a:t>Public AI chatbots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2651760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651760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51760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2651760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6" y="2651760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980944"/>
            <a:ext cx="10698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3108960"/>
            <a:ext cx="246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1F2A"/>
                </a:solidFill>
                <a:latin typeface="Calibri"/>
              </a:rPr>
              <a:t>Cloud enterprise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3108960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3108960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2620B"/>
                </a:solidFill>
                <a:latin typeface="Calibri"/>
              </a:rPr>
              <a:t>Partial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108960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2620B"/>
                </a:solidFill>
                <a:latin typeface="Calibri"/>
              </a:rPr>
              <a:t>Partial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3108960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6" y="3108960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2620B"/>
                </a:solidFill>
                <a:latin typeface="Calibri"/>
              </a:rPr>
              <a:t>Partial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438144"/>
            <a:ext cx="10698480" cy="457200"/>
          </a:xfrm>
          <a:prstGeom prst="rect">
            <a:avLst/>
          </a:prstGeom>
          <a:solidFill>
            <a:srgbClr val="F4F8F9"/>
          </a:solidFill>
          <a:ln w="635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3566160"/>
            <a:ext cx="246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1F2A"/>
                </a:solidFill>
                <a:latin typeface="Calibri"/>
              </a:rPr>
              <a:t>Enterprise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6704" y="3566160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3566160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Links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566160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n/a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3566160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9216" y="3566160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2620B"/>
                </a:solidFill>
                <a:latin typeface="Calibri"/>
              </a:rPr>
              <a:t>Partial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895344"/>
            <a:ext cx="10698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4023359"/>
            <a:ext cx="246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1F2A"/>
                </a:solidFill>
                <a:latin typeface="Calibri"/>
              </a:rPr>
              <a:t>Meeting transcription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46704" y="4023359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8032" y="4023359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023359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n/a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4023359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Transcript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29216" y="4023359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352544"/>
            <a:ext cx="10698480" cy="457200"/>
          </a:xfrm>
          <a:prstGeom prst="rect">
            <a:avLst/>
          </a:prstGeom>
          <a:solidFill>
            <a:srgbClr val="DFF0F2"/>
          </a:solidFill>
          <a:ln w="635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4480559"/>
            <a:ext cx="246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1F2A"/>
                </a:solidFill>
                <a:latin typeface="Calibri"/>
              </a:rPr>
              <a:t>EchoMind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46704" y="4480559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Yes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28032" y="4480559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Yes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480559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Yes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3568" y="4480559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Yes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29216" y="4480559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Yes, in-query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5065776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8F9E"/>
                </a:solidFill>
                <a:latin typeface="Calibri"/>
              </a:rPr>
              <a:t>And one more thing nobody else has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5358384"/>
            <a:ext cx="88462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00" b="0" i="0">
                <a:solidFill>
                  <a:srgbClr val="2B363D"/>
                </a:solidFill>
                <a:latin typeface="Calibri"/>
              </a:rPr>
              <a:t>A peer-reviewed measurement of the architecture, with the limitations published. In a market of unverifiable claims, evidence is the differentiator.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3B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B4C7A"/>
                </a:solidFill>
                <a:latin typeface="Calibri"/>
              </a:rPr>
              <a:t>COMMERCIAL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How it is sold and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101732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6C7C86"/>
                </a:solidFill>
                <a:latin typeface="Calibri"/>
              </a:rPr>
              <a:t>One platform, five packaged products, four deployment shapes.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75104"/>
            <a:ext cx="53003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B4C7A"/>
                </a:solidFill>
                <a:latin typeface="Calibri"/>
              </a:rPr>
              <a:t>PACKAGED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04288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EchoMind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304288"/>
            <a:ext cx="2922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hospitals, clinics, clinical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3347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EchoMind Law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633472"/>
            <a:ext cx="2922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firms and in-house legal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62656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EchoMind 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962656"/>
            <a:ext cx="2922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advice, compliance, KYC/AML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91840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EchoMind Meeting 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291840"/>
            <a:ext cx="2922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boards, PMO,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2102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EchoMind Retail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621024"/>
            <a:ext cx="2922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stores, sales floors, customer 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1975104"/>
            <a:ext cx="53003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B4C7A"/>
                </a:solidFill>
                <a:latin typeface="Calibri"/>
              </a:rPr>
              <a:t>DEPLOYMENT SHAPES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2304288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On-premises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0367" y="2304288"/>
            <a:ext cx="36543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the standard sale — an appliance in their 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263347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Edge /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0367" y="2633472"/>
            <a:ext cx="36543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remote sites, clinics, vehicles, vessels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2962656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Private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367" y="2962656"/>
            <a:ext cx="36543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their own controlled tenancy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329184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Air-gapped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0367" y="3291840"/>
            <a:ext cx="36543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C7C86"/>
                </a:solidFill>
                <a:latin typeface="Calibri"/>
              </a:rPr>
              <a:t>defense, government, critical 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0782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B4C7A"/>
                </a:solidFill>
                <a:latin typeface="Calibri"/>
              </a:rPr>
              <a:t>COMMERCIAL SHAPE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370832"/>
            <a:ext cx="2572435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B0B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17136"/>
            <a:ext cx="22432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Owned hardware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91456"/>
            <a:ext cx="2243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363D"/>
                </a:solidFill>
                <a:latin typeface="Calibri"/>
              </a:rPr>
              <a:t>One appliance per deployment. No per-token cost that grows with usage.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95395" y="4370832"/>
            <a:ext cx="2572435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B0B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59987" y="4517136"/>
            <a:ext cx="22432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No processor agreement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9987" y="4791456"/>
            <a:ext cx="2243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363D"/>
                </a:solidFill>
                <a:latin typeface="Calibri"/>
              </a:rPr>
              <a:t>Nothing is sub-processed, so the procurement path is dramatically shorter.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3863" y="4370832"/>
            <a:ext cx="2572435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B0B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8455" y="4517136"/>
            <a:ext cx="22432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Expansion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8455" y="4791456"/>
            <a:ext cx="2243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363D"/>
                </a:solidFill>
                <a:latin typeface="Calibri"/>
              </a:rPr>
              <a:t>More departments = more tenants on the same box; more sites = more boxes.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331" y="4370832"/>
            <a:ext cx="2572435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B0B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16923" y="4517136"/>
            <a:ext cx="22432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B1F2A"/>
                </a:solidFill>
                <a:latin typeface="Calibri"/>
              </a:rPr>
              <a:t>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6923" y="4791456"/>
            <a:ext cx="224325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363D"/>
                </a:solidFill>
                <a:latin typeface="Calibri"/>
              </a:rPr>
              <a:t>Vertical content packs, template customization, and integration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E8F9E"/>
                </a:solidFill>
                <a:latin typeface="Calibri"/>
              </a:rPr>
              <a:t>ROADMAP AND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0B1F2A"/>
                </a:solidFill>
                <a:latin typeface="Calibri"/>
              </a:rPr>
              <a:t>Where it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EchoMind by Ajace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4739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C7C86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99616"/>
            <a:ext cx="53003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805F"/>
                </a:solidFill>
                <a:latin typeface="Calibri"/>
              </a:rPr>
              <a:t>SHIPPING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92224"/>
            <a:ext cx="530031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2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Knowledge Chat, Live Transcript, Silent Assistant, Voice, Document Studio, Boardroom</a:t>
            </a:r>
          </a:p>
          <a:p>
            <a:pPr algn="l" marL="182880" indent="-182880">
              <a:lnSpc>
                <a:spcPct val="112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Five vertical products with enforced tenant isolation</a:t>
            </a:r>
          </a:p>
          <a:p>
            <a:pPr algn="l" marL="182880" indent="-182880">
              <a:lnSpc>
                <a:spcPct val="112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Secure Export Gateway; role-based access and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499616"/>
            <a:ext cx="53003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2620B"/>
                </a:solidFill>
                <a:latin typeface="Calibr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792224"/>
            <a:ext cx="530031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lnSpc>
                <a:spcPct val="112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Surface blocked injection attempts to the operator</a:t>
            </a:r>
          </a:p>
          <a:p>
            <a:pPr algn="l" marL="182880" indent="-182880">
              <a:lnSpc>
                <a:spcPct val="112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Constant-time responses to close the timing channel</a:t>
            </a:r>
          </a:p>
          <a:p>
            <a:pPr algn="l" marL="182880" indent="-182880">
              <a:lnSpc>
                <a:spcPct val="112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Human-panel evaluation and larger-corpus scale study</a:t>
            </a:r>
          </a:p>
          <a:p>
            <a:pPr algn="l" marL="182880" indent="-182880">
              <a:lnSpc>
                <a:spcPct val="112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2B363D"/>
                </a:solidFill>
                <a:latin typeface="Calibri"/>
              </a:rPr>
              <a:t>Deeper meeting-room hardware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602736"/>
            <a:ext cx="11057839" cy="1755648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602736"/>
            <a:ext cx="82296" cy="1755648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84048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F9E"/>
                </a:solidFill>
                <a:latin typeface="Calibri"/>
              </a:rPr>
              <a:t>The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101434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Give us one room, one department, and one week.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681728"/>
            <a:ext cx="101434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93AEB8"/>
                </a:solidFill>
                <a:latin typeface="Calibri"/>
              </a:rPr>
              <a:t>Bring your own documents. We install, index, and demonstrate on your content — then unplug the network cable and run the whole demo again.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