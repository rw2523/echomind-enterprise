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42F2E"/>
        </a:solidFill>
        <a:effectLst/>
      </p:bgPr>
    </p:bg>
    <p:spTree>
      <p:nvGrpSpPr>
        <p:cNvPr id="1" name=""/>
        <p:cNvGrpSpPr/>
        <p:nvPr/>
      </p:nvGrpSpPr>
      <p:grpSpPr/>
      <p:pic>
        <p:nvPicPr>
          <p:cNvPr id="2" name="Picture 1" descr="image.png"/>
          <p:cNvPicPr>
            <a:picLocks noChangeAspect="1"/>
          </p:cNvPicPr>
          <p:nvPr/>
        </p:nvPicPr>
        <p:blipFill>
          <a:blip r:embed="rId2"/>
          <a:srcRect l="27506" r="27506"/>
          <a:stretch>
            <a:fillRect/>
          </a:stretch>
        </p:blipFill>
        <p:spPr>
          <a:xfrm>
            <a:off x="6703923" y="0"/>
            <a:ext cx="5485028" cy="6858000"/>
          </a:xfrm>
          <a:prstGeom prst="rect">
            <a:avLst/>
          </a:prstGeom>
        </p:spPr>
      </p:pic>
      <p:sp>
        <p:nvSpPr>
          <p:cNvPr id="3" name="TextBox 2"/>
          <p:cNvSpPr txBox="1"/>
          <p:nvPr/>
        </p:nvSpPr>
        <p:spPr>
          <a:xfrm>
            <a:off x="640080" y="2057400"/>
            <a:ext cx="6063843" cy="2011680"/>
          </a:xfrm>
          <a:prstGeom prst="rect">
            <a:avLst/>
          </a:prstGeom>
          <a:noFill/>
        </p:spPr>
        <p:txBody>
          <a:bodyPr wrap="square" anchor="b">
            <a:spAutoFit/>
          </a:bodyPr>
          <a:lstStyle/>
          <a:p>
            <a:pPr algn="l"/>
            <a:r>
              <a:rPr sz="4000" b="1">
                <a:solidFill>
                  <a:srgbClr val="FFFFFF"/>
                </a:solidFill>
                <a:latin typeface="Helvetica-Bold"/>
              </a:rPr>
              <a:t>EchoMind Enterprise — User Guide</a:t>
            </a:r>
          </a:p>
        </p:txBody>
      </p:sp>
      <p:sp>
        <p:nvSpPr>
          <p:cNvPr id="4" name="Rectangle 3"/>
          <p:cNvSpPr/>
          <p:nvPr/>
        </p:nvSpPr>
        <p:spPr>
          <a:xfrm>
            <a:off x="640080" y="4160520"/>
            <a:ext cx="2011680" cy="54864"/>
          </a:xfrm>
          <a:prstGeom prst="rect">
            <a:avLst/>
          </a:prstGeom>
          <a:solidFill>
            <a:srgbClr val="5E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343400"/>
            <a:ext cx="6063843" cy="1005840"/>
          </a:xfrm>
          <a:prstGeom prst="rect">
            <a:avLst/>
          </a:prstGeom>
          <a:noFill/>
        </p:spPr>
        <p:txBody>
          <a:bodyPr wrap="square">
            <a:spAutoFit/>
          </a:bodyPr>
          <a:lstStyle/>
          <a:p>
            <a:pPr algn="l"/>
            <a:r>
              <a:rPr sz="1800" b="0">
                <a:solidFill>
                  <a:srgbClr val="FFFFFF"/>
                </a:solidFill>
              </a:rPr>
              <a:t>A Private On-Premises AI Workspace for Everyday Business Users</a:t>
            </a:r>
          </a:p>
        </p:txBody>
      </p:sp>
      <p:sp>
        <p:nvSpPr>
          <p:cNvPr id="6" name="TextBox 5"/>
          <p:cNvSpPr txBox="1"/>
          <p:nvPr/>
        </p:nvSpPr>
        <p:spPr>
          <a:xfrm>
            <a:off x="640080" y="5577840"/>
            <a:ext cx="6063843" cy="548640"/>
          </a:xfrm>
          <a:prstGeom prst="rect">
            <a:avLst/>
          </a:prstGeom>
          <a:noFill/>
        </p:spPr>
        <p:txBody>
          <a:bodyPr wrap="square">
            <a:spAutoFit/>
          </a:bodyPr>
          <a:lstStyle/>
          <a:p>
            <a:pPr algn="l"/>
            <a:r>
              <a:rPr sz="1300" b="1">
                <a:solidFill>
                  <a:srgbClr val="5EEAD4"/>
                </a:solidFill>
              </a:rPr>
              <a:t>Ajace AI   ·   Learning Guide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F766E"/>
                </a:solidFill>
                <a:latin typeface="Helvetica-Bold"/>
              </a:rPr>
              <a:t>Agenda</a:t>
            </a:r>
          </a:p>
        </p:txBody>
      </p:sp>
      <p:sp>
        <p:nvSpPr>
          <p:cNvPr id="5" name="TextBox 4"/>
          <p:cNvSpPr txBox="1"/>
          <p:nvPr/>
        </p:nvSpPr>
        <p:spPr>
          <a:xfrm>
            <a:off x="640080" y="1417320"/>
            <a:ext cx="10908792" cy="4846320"/>
          </a:xfrm>
          <a:prstGeom prst="rect">
            <a:avLst/>
          </a:prstGeom>
          <a:noFill/>
        </p:spPr>
        <p:txBody>
          <a:bodyPr wrap="square">
            <a:spAutoFit/>
          </a:bodyPr>
          <a:lstStyle/>
          <a:p>
            <a:pPr>
              <a:spcAft>
                <a:spcPts val="1000"/>
              </a:spcAft>
            </a:pPr>
            <a:r>
              <a:rPr sz="2000" b="1">
                <a:solidFill>
                  <a:srgbClr val="2DD4BF"/>
                </a:solidFill>
              </a:rPr>
              <a:t>01   </a:t>
            </a:r>
            <a:r>
              <a:rPr sz="2000" b="1">
                <a:solidFill>
                  <a:srgbClr val="042F2E"/>
                </a:solidFill>
              </a:rPr>
              <a:t>Getting Started</a:t>
            </a:r>
          </a:p>
          <a:p>
            <a:pPr>
              <a:spcAft>
                <a:spcPts val="1000"/>
              </a:spcAft>
            </a:pPr>
            <a:r>
              <a:rPr sz="2000" b="1">
                <a:solidFill>
                  <a:srgbClr val="2DD4BF"/>
                </a:solidFill>
              </a:rPr>
              <a:t>02   </a:t>
            </a:r>
            <a:r>
              <a:rPr sz="2000" b="1">
                <a:solidFill>
                  <a:srgbClr val="042F2E"/>
                </a:solidFill>
              </a:rPr>
              <a:t>Overview of EchoMind Features</a:t>
            </a:r>
          </a:p>
        </p:txBody>
      </p:sp>
      <p:sp>
        <p:nvSpPr>
          <p:cNvPr id="6" name="TextBox 5"/>
          <p:cNvSpPr txBox="1"/>
          <p:nvPr/>
        </p:nvSpPr>
        <p:spPr>
          <a:xfrm>
            <a:off x="640080" y="6400800"/>
            <a:ext cx="5454396" cy="320040"/>
          </a:xfrm>
          <a:prstGeom prst="rect">
            <a:avLst/>
          </a:prstGeom>
          <a:noFill/>
        </p:spPr>
        <p:txBody>
          <a:bodyPr wrap="square" anchor="ctr">
            <a:spAutoFit/>
          </a:bodyPr>
          <a:lstStyle/>
          <a:p>
            <a:pPr algn="l"/>
            <a:r>
              <a:rPr sz="900" b="0">
                <a:solidFill>
                  <a:srgbClr val="6B7280"/>
                </a:solidFill>
              </a:rPr>
              <a:t>Ajace AI</a:t>
            </a:r>
          </a:p>
        </p:txBody>
      </p:sp>
      <p:sp>
        <p:nvSpPr>
          <p:cNvPr id="7" name="TextBox 6"/>
          <p:cNvSpPr txBox="1"/>
          <p:nvPr/>
        </p:nvSpPr>
        <p:spPr>
          <a:xfrm>
            <a:off x="6094476" y="6400800"/>
            <a:ext cx="5454396" cy="320040"/>
          </a:xfrm>
          <a:prstGeom prst="rect">
            <a:avLst/>
          </a:prstGeom>
          <a:noFill/>
        </p:spPr>
        <p:txBody>
          <a:bodyPr wrap="square" anchor="ctr">
            <a:spAutoFit/>
          </a:bodyPr>
          <a:lstStyle/>
          <a:p>
            <a:pPr algn="r"/>
            <a:r>
              <a:rPr sz="900" b="0">
                <a:solidFill>
                  <a:srgbClr val="6B7280"/>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42F2E"/>
        </a:solidFill>
        <a:effectLst/>
      </p:bgPr>
    </p:bg>
    <p:spTree>
      <p:nvGrpSpPr>
        <p:cNvPr id="1" name=""/>
        <p:cNvGrpSpPr/>
        <p:nvPr/>
      </p:nvGrpSpPr>
      <p:grpSpPr/>
      <p:sp>
        <p:nvSpPr>
          <p:cNvPr id="2" name="TextBox 1"/>
          <p:cNvSpPr txBox="1"/>
          <p:nvPr/>
        </p:nvSpPr>
        <p:spPr>
          <a:xfrm>
            <a:off x="640080" y="1554480"/>
            <a:ext cx="10908792" cy="1828800"/>
          </a:xfrm>
          <a:prstGeom prst="rect">
            <a:avLst/>
          </a:prstGeom>
          <a:noFill/>
        </p:spPr>
        <p:txBody>
          <a:bodyPr wrap="square" anchor="ctr">
            <a:spAutoFit/>
          </a:bodyPr>
          <a:lstStyle/>
          <a:p>
            <a:pPr algn="l"/>
            <a:r>
              <a:rPr sz="12000" b="1">
                <a:solidFill>
                  <a:srgbClr val="5EEAD4"/>
                </a:solidFill>
                <a:latin typeface="Helvetica-Bold"/>
              </a:rPr>
              <a:t>01</a:t>
            </a:r>
          </a:p>
        </p:txBody>
      </p:sp>
      <p:sp>
        <p:nvSpPr>
          <p:cNvPr id="3" name="Rectangle 2"/>
          <p:cNvSpPr/>
          <p:nvPr/>
        </p:nvSpPr>
        <p:spPr>
          <a:xfrm>
            <a:off x="640080" y="3703320"/>
            <a:ext cx="2194560" cy="64008"/>
          </a:xfrm>
          <a:prstGeom prst="rect">
            <a:avLst/>
          </a:prstGeom>
          <a:solidFill>
            <a:srgbClr val="5E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86200"/>
            <a:ext cx="10908792" cy="1645920"/>
          </a:xfrm>
          <a:prstGeom prst="rect">
            <a:avLst/>
          </a:prstGeom>
          <a:noFill/>
        </p:spPr>
        <p:txBody>
          <a:bodyPr wrap="square" anchor="t">
            <a:spAutoFit/>
          </a:bodyPr>
          <a:lstStyle/>
          <a:p>
            <a:pPr algn="l"/>
            <a:r>
              <a:rPr sz="3600" b="1">
                <a:solidFill>
                  <a:srgbClr val="FFFFFF"/>
                </a:solidFill>
                <a:latin typeface="Helvetica-Bold"/>
              </a:rPr>
              <a:t>Getting Started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F766E"/>
                </a:solidFill>
                <a:latin typeface="Helvetica-Bold"/>
              </a:rPr>
              <a:t>Getting Started</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B7280"/>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B7280"/>
                </a:solidFill>
              </a:rPr>
              <a:t>4</a:t>
            </a:r>
          </a:p>
        </p:txBody>
      </p:sp>
      <p:sp>
        <p:nvSpPr>
          <p:cNvPr id="7" name="TextBox 6"/>
          <p:cNvSpPr txBox="1"/>
          <p:nvPr/>
        </p:nvSpPr>
        <p:spPr>
          <a:xfrm>
            <a:off x="640080" y="1417320"/>
            <a:ext cx="10908792" cy="1037335"/>
          </a:xfrm>
          <a:prstGeom prst="rect">
            <a:avLst/>
          </a:prstGeom>
          <a:noFill/>
        </p:spPr>
        <p:txBody>
          <a:bodyPr wrap="square" anchor="t">
            <a:spAutoFit/>
          </a:bodyPr>
          <a:lstStyle/>
          <a:p>
            <a:pPr algn="l"/>
            <a:r>
              <a:rPr sz="1600" b="0">
                <a:solidFill>
                  <a:srgbClr val="134E4A"/>
                </a:solidFill>
              </a:rPr>
              <a:t>To get started with EchoMind Enterprise, navigate to your organization's server address in a web browser. The default address is http://HOST:3000, but you can also access the secure version at https://HOST:3443. This will open the EchoMind interface, where you can explore its various features.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F766E"/>
                </a:solidFill>
                <a:latin typeface="Helvetica-Bold"/>
              </a:rPr>
              <a:t>Getting Started</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B7280"/>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B7280"/>
                </a:solidFill>
              </a:rPr>
              <a:t>5</a:t>
            </a:r>
          </a:p>
        </p:txBody>
      </p:sp>
      <p:pic>
        <p:nvPicPr>
          <p:cNvPr id="7" name="Picture 6" descr="image.png"/>
          <p:cNvPicPr>
            <a:picLocks noChangeAspect="1"/>
          </p:cNvPicPr>
          <p:nvPr/>
        </p:nvPicPr>
        <p:blipFill>
          <a:blip r:embed="rId2"/>
          <a:stretch>
            <a:fillRect/>
          </a:stretch>
        </p:blipFill>
        <p:spPr>
          <a:xfrm>
            <a:off x="2327148" y="1508760"/>
            <a:ext cx="7534656" cy="470915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42F2E"/>
        </a:solidFill>
        <a:effectLst/>
      </p:bgPr>
    </p:bg>
    <p:spTree>
      <p:nvGrpSpPr>
        <p:cNvPr id="1" name=""/>
        <p:cNvGrpSpPr/>
        <p:nvPr/>
      </p:nvGrpSpPr>
      <p:grpSpPr/>
      <p:sp>
        <p:nvSpPr>
          <p:cNvPr id="2" name="TextBox 1"/>
          <p:cNvSpPr txBox="1"/>
          <p:nvPr/>
        </p:nvSpPr>
        <p:spPr>
          <a:xfrm>
            <a:off x="640080" y="1554480"/>
            <a:ext cx="10908792" cy="1828800"/>
          </a:xfrm>
          <a:prstGeom prst="rect">
            <a:avLst/>
          </a:prstGeom>
          <a:noFill/>
        </p:spPr>
        <p:txBody>
          <a:bodyPr wrap="square" anchor="ctr">
            <a:spAutoFit/>
          </a:bodyPr>
          <a:lstStyle/>
          <a:p>
            <a:pPr algn="l"/>
            <a:r>
              <a:rPr sz="12000" b="1">
                <a:solidFill>
                  <a:srgbClr val="5EEAD4"/>
                </a:solidFill>
                <a:latin typeface="Helvetica-Bold"/>
              </a:rPr>
              <a:t>02</a:t>
            </a:r>
          </a:p>
        </p:txBody>
      </p:sp>
      <p:sp>
        <p:nvSpPr>
          <p:cNvPr id="3" name="Rectangle 2"/>
          <p:cNvSpPr/>
          <p:nvPr/>
        </p:nvSpPr>
        <p:spPr>
          <a:xfrm>
            <a:off x="640080" y="3703320"/>
            <a:ext cx="2194560" cy="64008"/>
          </a:xfrm>
          <a:prstGeom prst="rect">
            <a:avLst/>
          </a:prstGeom>
          <a:solidFill>
            <a:srgbClr val="5E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86200"/>
            <a:ext cx="10908792" cy="1645920"/>
          </a:xfrm>
          <a:prstGeom prst="rect">
            <a:avLst/>
          </a:prstGeom>
          <a:noFill/>
        </p:spPr>
        <p:txBody>
          <a:bodyPr wrap="square" anchor="t">
            <a:spAutoFit/>
          </a:bodyPr>
          <a:lstStyle/>
          <a:p>
            <a:pPr algn="l"/>
            <a:r>
              <a:rPr sz="3600" b="1">
                <a:solidFill>
                  <a:srgbClr val="FFFFFF"/>
                </a:solidFill>
                <a:latin typeface="Helvetica-Bold"/>
              </a:rPr>
              <a:t>Overview of EchoMind Features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F766E"/>
                </a:solidFill>
                <a:latin typeface="Helvetica-Bold"/>
              </a:rPr>
              <a:t>Overview of EchoMind Features</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B7280"/>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B7280"/>
                </a:solidFill>
              </a:rPr>
              <a:t>7</a:t>
            </a:r>
          </a:p>
        </p:txBody>
      </p:sp>
      <p:sp>
        <p:nvSpPr>
          <p:cNvPr id="7" name="TextBox 6"/>
          <p:cNvSpPr txBox="1"/>
          <p:nvPr/>
        </p:nvSpPr>
        <p:spPr>
          <a:xfrm>
            <a:off x="640080" y="1417320"/>
            <a:ext cx="10908792" cy="2772663"/>
          </a:xfrm>
          <a:prstGeom prst="rect">
            <a:avLst/>
          </a:prstGeom>
          <a:noFill/>
        </p:spPr>
        <p:txBody>
          <a:bodyPr wrap="square" anchor="t">
            <a:spAutoFit/>
          </a:bodyPr>
          <a:lstStyle/>
          <a:p>
            <a:pPr algn="l"/>
            <a:r>
              <a:rPr sz="1600" b="0">
                <a:solidFill>
                  <a:srgbClr val="134E4A"/>
                </a:solidFill>
              </a:rPr>
              <a:t>Overview of EchoMind Features
EchoMind Enterprise is a comprehensive AI workspace that offers a range of features to enhance productivity and collaboration within your organization. The left sidebar of the application provides easy access to five key tabs, each designed to support a specific aspect of your workflow.
Knowledge Chat: This tab enables you to engage in natural language conversations with the EchoMind AI, asking questions, seeking information, and exploring ideas. The Knowledge Chat feature is designed to provide quick and accurate answers to your queries, making it an ideal…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F766E"/>
                </a:solidFill>
                <a:latin typeface="Helvetica-Bold"/>
              </a:rPr>
              <a:t>Overview of EchoMind Features</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B7280"/>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B7280"/>
                </a:solidFill>
              </a:rPr>
              <a:t>8</a:t>
            </a:r>
          </a:p>
        </p:txBody>
      </p:sp>
      <p:pic>
        <p:nvPicPr>
          <p:cNvPr id="7" name="Picture 6" descr="image.png"/>
          <p:cNvPicPr>
            <a:picLocks noChangeAspect="1"/>
          </p:cNvPicPr>
          <p:nvPr/>
        </p:nvPicPr>
        <p:blipFill>
          <a:blip r:embed="rId2"/>
          <a:stretch>
            <a:fillRect/>
          </a:stretch>
        </p:blipFill>
        <p:spPr>
          <a:xfrm>
            <a:off x="2327148" y="1508760"/>
            <a:ext cx="7534656" cy="470915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F766E"/>
                </a:solidFill>
                <a:latin typeface="Helvetica-Bold"/>
              </a:rPr>
              <a:t>Knowledge Chat</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B7280"/>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B7280"/>
                </a:solidFill>
              </a:rPr>
              <a:t>9</a:t>
            </a:r>
          </a:p>
        </p:txBody>
      </p:sp>
      <p:sp>
        <p:nvSpPr>
          <p:cNvPr id="7" name="TextBox 6"/>
          <p:cNvSpPr txBox="1"/>
          <p:nvPr/>
        </p:nvSpPr>
        <p:spPr>
          <a:xfrm>
            <a:off x="640080" y="1417320"/>
            <a:ext cx="10908792" cy="3020567"/>
          </a:xfrm>
          <a:prstGeom prst="rect">
            <a:avLst/>
          </a:prstGeom>
          <a:noFill/>
        </p:spPr>
        <p:txBody>
          <a:bodyPr wrap="square" anchor="t">
            <a:spAutoFit/>
          </a:bodyPr>
          <a:lstStyle/>
          <a:p>
            <a:pPr algn="l"/>
            <a:r>
              <a:rPr sz="1600" b="0">
                <a:solidFill>
                  <a:srgbClr val="134E4A"/>
                </a:solidFill>
              </a:rPr>
              <a:t>Knowledge Chat
To use Knowledge Chat, follow these steps:
1. Uploading Files: Click on the "Upload" button in the top-right corner of the Knowledge Chat window. Select the files you want to upload from your local machine. Supported file types include documents, images, and videos. You can also drag and drop files directly into the upload area.
2. Asking Questions: Type your question into the text box at the bottom of the Knowledge Chat window. You can ask a single question or a series of related questions. The AI will respond with relevant answers and insights.
3. Retrieving Answers: The…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F766E"/>
                </a:solidFill>
                <a:latin typeface="Helvetica-Bold"/>
              </a:rPr>
              <a:t>Live Transcription and the Silent Assistant</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B7280"/>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B7280"/>
                </a:solidFill>
              </a:rPr>
              <a:t>10</a:t>
            </a:r>
          </a:p>
        </p:txBody>
      </p:sp>
      <p:sp>
        <p:nvSpPr>
          <p:cNvPr id="7" name="TextBox 6"/>
          <p:cNvSpPr txBox="1"/>
          <p:nvPr/>
        </p:nvSpPr>
        <p:spPr>
          <a:xfrm>
            <a:off x="640080" y="1417320"/>
            <a:ext cx="10908792" cy="2772663"/>
          </a:xfrm>
          <a:prstGeom prst="rect">
            <a:avLst/>
          </a:prstGeom>
          <a:noFill/>
        </p:spPr>
        <p:txBody>
          <a:bodyPr wrap="square" anchor="t">
            <a:spAutoFit/>
          </a:bodyPr>
          <a:lstStyle/>
          <a:p>
            <a:pPr algn="l"/>
            <a:r>
              <a:rPr sz="1600" b="0">
                <a:solidFill>
                  <a:srgbClr val="134E4A"/>
                </a:solidFill>
              </a:rPr>
              <a:t>Live Transcription and the Silent Assistant
To start a Live Transcription session, click on the Live Transcript tab in the left sidebar. This will open a new window where you can begin speaking. The Silent Assistant will automatically transcribe your words in real-time, displaying the text in a scrolling window. You can then review and edit the transcription as needed.
The Silent Assistant is a powerful tool that allows you to engage in voice conversations with the EchoMind AI. To use it, simply click on the Voice Conversation tab in the left sidebar, and then click on the "Start…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F766E"/>
                </a:solidFill>
                <a:latin typeface="Helvetica-Bold"/>
              </a:rPr>
              <a:t>Boardroom</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B7280"/>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B7280"/>
                </a:solidFill>
              </a:rPr>
              <a:t>11</a:t>
            </a:r>
          </a:p>
        </p:txBody>
      </p:sp>
      <p:sp>
        <p:nvSpPr>
          <p:cNvPr id="7" name="TextBox 6"/>
          <p:cNvSpPr txBox="1"/>
          <p:nvPr/>
        </p:nvSpPr>
        <p:spPr>
          <a:xfrm>
            <a:off x="640080" y="1417320"/>
            <a:ext cx="10908792" cy="4755895"/>
          </a:xfrm>
          <a:prstGeom prst="rect">
            <a:avLst/>
          </a:prstGeom>
          <a:noFill/>
        </p:spPr>
        <p:txBody>
          <a:bodyPr wrap="square" anchor="t">
            <a:spAutoFit/>
          </a:bodyPr>
          <a:lstStyle/>
          <a:p>
            <a:pPr algn="l"/>
            <a:r>
              <a:rPr sz="1600" b="0">
                <a:solidFill>
                  <a:srgbClr val="134E4A"/>
                </a:solidFill>
              </a:rPr>
              <a:t>Using the Boardroom Feature
The Boardroom feature in EchoMind Enterprise allows you to record and analyze meetings with ease. To start, navigate to the Boardroom tab in the left sidebar.
Recording a Meeting
To record a meeting, follow these steps:
* Click the "Start Recording" button to begin the recording process.
* Speak clearly and concisely during the meeting, as the recording will capture your voice and any visual aids you use.
* When you're ready to stop the recording, click the "Stop Recording" button.
Analyzing a Recorded Meeting
Once you've recorded a meeting, you can analyze…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F766E"/>
                </a:solidFill>
                <a:latin typeface="Helvetica-Bold"/>
              </a:rPr>
              <a:t>Document Studio</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B7280"/>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B7280"/>
                </a:solidFill>
              </a:rPr>
              <a:t>12</a:t>
            </a:r>
          </a:p>
        </p:txBody>
      </p:sp>
      <p:sp>
        <p:nvSpPr>
          <p:cNvPr id="7" name="TextBox 6"/>
          <p:cNvSpPr txBox="1"/>
          <p:nvPr/>
        </p:nvSpPr>
        <p:spPr>
          <a:xfrm>
            <a:off x="640080" y="1417320"/>
            <a:ext cx="10908792" cy="3516375"/>
          </a:xfrm>
          <a:prstGeom prst="rect">
            <a:avLst/>
          </a:prstGeom>
          <a:noFill/>
        </p:spPr>
        <p:txBody>
          <a:bodyPr wrap="square" anchor="t">
            <a:spAutoFit/>
          </a:bodyPr>
          <a:lstStyle/>
          <a:p>
            <a:pPr algn="l"/>
            <a:r>
              <a:rPr sz="1600" b="0">
                <a:solidFill>
                  <a:srgbClr val="134E4A"/>
                </a:solidFill>
              </a:rPr>
              <a:t>Document Studio
Document Studio is a powerful tool within EchoMind Enterprise that enables you to create, edit, and manage documents efficiently. To get started with Document Studio, follow these steps:
* Click on the Document Studio tab in the left sidebar to open the document editor.
* Choose a template from the available options to create a new document. Templates are pre-designed layouts that can be customized to suit your needs.
* Select the template that best fits your requirements and click on the "Create" button to generate a new document.
* Once you have created a new document…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F766E"/>
                </a:solidFill>
                <a:latin typeface="Helvetica-Bold"/>
              </a:rPr>
              <a:t>Personalizing EchoMind</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B7280"/>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B7280"/>
                </a:solidFill>
              </a:rPr>
              <a:t>13</a:t>
            </a:r>
          </a:p>
        </p:txBody>
      </p:sp>
      <p:sp>
        <p:nvSpPr>
          <p:cNvPr id="7" name="TextBox 6"/>
          <p:cNvSpPr txBox="1"/>
          <p:nvPr/>
        </p:nvSpPr>
        <p:spPr>
          <a:xfrm>
            <a:off x="640080" y="1417320"/>
            <a:ext cx="10908792" cy="4507991"/>
          </a:xfrm>
          <a:prstGeom prst="rect">
            <a:avLst/>
          </a:prstGeom>
          <a:noFill/>
        </p:spPr>
        <p:txBody>
          <a:bodyPr wrap="square" anchor="t">
            <a:spAutoFit/>
          </a:bodyPr>
          <a:lstStyle/>
          <a:p>
            <a:pPr algn="l"/>
            <a:r>
              <a:rPr sz="1600" b="0">
                <a:solidFill>
                  <a:srgbClr val="134E4A"/>
                </a:solidFill>
              </a:rPr>
              <a:t>Personalizing EchoMind
To make the most out of EchoMind, it's essential to customize the application to fit your needs. This involves choosing a persona and setting up the Silent Assistant.
Choosing a Persona
A persona is a pre-defined user profile that helps EchoMind understand your preferences and behavior. To choose a persona, follow these steps:
* Click on the Settings tab in the left sidebar.
* Select Persona from the dropdown menu.
* Browse through the available personas and select the one that best suits your needs.
* Click Save to apply the changes.
Setting Up the Silent…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F766E"/>
                </a:solidFill>
                <a:latin typeface="Helvetica-Bold"/>
              </a:rPr>
              <a:t>Settings and Configuration</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B7280"/>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B7280"/>
                </a:solidFill>
              </a:rPr>
              <a:t>14</a:t>
            </a:r>
          </a:p>
        </p:txBody>
      </p:sp>
      <p:sp>
        <p:nvSpPr>
          <p:cNvPr id="7" name="TextBox 6"/>
          <p:cNvSpPr txBox="1"/>
          <p:nvPr/>
        </p:nvSpPr>
        <p:spPr>
          <a:xfrm>
            <a:off x="640080" y="1417320"/>
            <a:ext cx="10908792" cy="4507991"/>
          </a:xfrm>
          <a:prstGeom prst="rect">
            <a:avLst/>
          </a:prstGeom>
          <a:noFill/>
        </p:spPr>
        <p:txBody>
          <a:bodyPr wrap="square" anchor="t">
            <a:spAutoFit/>
          </a:bodyPr>
          <a:lstStyle/>
          <a:p>
            <a:pPr algn="l"/>
            <a:r>
              <a:rPr sz="1600" b="0">
                <a:solidFill>
                  <a:srgbClr val="134E4A"/>
                </a:solidFill>
              </a:rPr>
              <a:t>Settings and Configuration
To ensure EchoMind is set up correctly and tailored to your organization's needs, follow these steps to configure the application.
Choosing a Default Persona
When you first log in to EchoMind, you'll be prompted to choose a default persona. A persona is a pre-defined set of settings and preferences that will be applied to all users. To choose a default persona, follow these steps:
* Click on the "Settings" tab in the left sidebar.
* Click on the "Persona" dropdown menu.
* Select the desired persona from the list.
* Click "Save" to apply the changes.
Setting Up…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F766E"/>
                </a:solidFill>
                <a:latin typeface="Helvetica-Bold"/>
              </a:rPr>
              <a:t>Privacy and Security</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B7280"/>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B7280"/>
                </a:solidFill>
              </a:rPr>
              <a:t>15</a:t>
            </a:r>
          </a:p>
        </p:txBody>
      </p:sp>
      <p:sp>
        <p:nvSpPr>
          <p:cNvPr id="7" name="TextBox 6"/>
          <p:cNvSpPr txBox="1"/>
          <p:nvPr/>
        </p:nvSpPr>
        <p:spPr>
          <a:xfrm>
            <a:off x="640080" y="1417320"/>
            <a:ext cx="10908792" cy="2524759"/>
          </a:xfrm>
          <a:prstGeom prst="rect">
            <a:avLst/>
          </a:prstGeom>
          <a:noFill/>
        </p:spPr>
        <p:txBody>
          <a:bodyPr wrap="square" anchor="t">
            <a:spAutoFit/>
          </a:bodyPr>
          <a:lstStyle/>
          <a:p>
            <a:pPr algn="l"/>
            <a:r>
              <a:rPr sz="1600" b="0">
                <a:solidFill>
                  <a:srgbClr val="134E4A"/>
                </a:solidFill>
              </a:rPr>
              <a:t>With EchoMind Enterprise, you can rest assured that your data is secure and private. Unlike cloud-based AI workspaces, EchoMind runs entirely on your organization's own hardware, ensuring that sensitive information remains within your control. Local data storage means that all interactions, conversations, and documents are stored on your premises, eliminating the risk of data breaches or unauthorized access. Moreover, EchoMind does not collect any telemetry data, so you can use the application without worrying about your usage patterns being monitored or analyzed.
This approach not only…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F766E"/>
                </a:solidFill>
                <a:latin typeface="Helvetica-Bold"/>
              </a:rPr>
              <a:t>Key Takeaways</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B7280"/>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B7280"/>
                </a:solidFill>
              </a:rPr>
              <a:t>16</a:t>
            </a:r>
          </a:p>
        </p:txBody>
      </p:sp>
      <p:sp>
        <p:nvSpPr>
          <p:cNvPr id="7" name="TextBox 6"/>
          <p:cNvSpPr txBox="1"/>
          <p:nvPr/>
        </p:nvSpPr>
        <p:spPr>
          <a:xfrm>
            <a:off x="640080" y="1417320"/>
            <a:ext cx="10908792" cy="3268471"/>
          </a:xfrm>
          <a:prstGeom prst="rect">
            <a:avLst/>
          </a:prstGeom>
          <a:noFill/>
        </p:spPr>
        <p:txBody>
          <a:bodyPr wrap="square" anchor="t">
            <a:spAutoFit/>
          </a:bodyPr>
          <a:lstStyle/>
          <a:p>
            <a:pPr algn="l"/>
            <a:r>
              <a:rPr sz="1600" b="0">
                <a:solidFill>
                  <a:srgbClr val="134E4A"/>
                </a:solidFill>
              </a:rPr>
              <a:t>Key Takeaways
* EchoMind Enterprise is a private on-premises AI workspace that runs entirely on your organization's own hardware.
* To get started, open EchoMind in a browser at your server's address (http://HOST:3000, or the secure https://HOST:3443).
* Microphone features (Live Transcription and Voice Conversation) require HTTPS or localhost for secure use.
* The left sidebar holds five tabs: Knowledge Chat, Live Transcript, Voice Conversation, Document Studio, and Settings.
* The user guide provides step-by-step instructions on how to use each part of the application.
* This user guide…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F766E"/>
                </a:solidFill>
                <a:latin typeface="Helvetica-Bold"/>
              </a:rPr>
              <a:t>Review Questions</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B7280"/>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B7280"/>
                </a:solidFill>
              </a:rPr>
              <a:t>17</a:t>
            </a:r>
          </a:p>
        </p:txBody>
      </p:sp>
      <p:sp>
        <p:nvSpPr>
          <p:cNvPr id="7" name="TextBox 6"/>
          <p:cNvSpPr txBox="1"/>
          <p:nvPr/>
        </p:nvSpPr>
        <p:spPr>
          <a:xfrm>
            <a:off x="640080" y="1417320"/>
            <a:ext cx="10908792" cy="3020567"/>
          </a:xfrm>
          <a:prstGeom prst="rect">
            <a:avLst/>
          </a:prstGeom>
          <a:noFill/>
        </p:spPr>
        <p:txBody>
          <a:bodyPr wrap="square" anchor="t">
            <a:spAutoFit/>
          </a:bodyPr>
          <a:lstStyle/>
          <a:p>
            <a:pPr algn="l"/>
            <a:r>
              <a:rPr sz="1600" b="0">
                <a:solidFill>
                  <a:srgbClr val="134E4A"/>
                </a:solidFill>
              </a:rPr>
              <a:t>Review Questions
• What is the address to open EchoMind in a browser, and what are the security requirements for microphone features?
• What are the five tabs found in the left sidebar of EchoMind?
• What is the purpose of the Knowledge Chat feature in EchoMind?
• How do you access the different features of EchoMind?
• What is the address to open EchoMind in a secure environment?
• What is the purpose of the Settings tab in EchoMind?
• What are the microphone features in EchoMind, and what are the security requirements for them?
• How do you use the Document Studio feature 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F766E"/>
                </a:solidFill>
                <a:latin typeface="Helvetica-Bold"/>
              </a:rPr>
              <a:t>APPENDIX: Troubleshooting and Support</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B7280"/>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B7280"/>
                </a:solidFill>
              </a:rPr>
              <a:t>18</a:t>
            </a:r>
          </a:p>
        </p:txBody>
      </p:sp>
      <p:sp>
        <p:nvSpPr>
          <p:cNvPr id="7" name="TextBox 6"/>
          <p:cNvSpPr txBox="1"/>
          <p:nvPr/>
        </p:nvSpPr>
        <p:spPr>
          <a:xfrm>
            <a:off x="640080" y="1417320"/>
            <a:ext cx="10908792" cy="541528"/>
          </a:xfrm>
          <a:prstGeom prst="rect">
            <a:avLst/>
          </a:prstGeom>
          <a:noFill/>
        </p:spPr>
        <p:txBody>
          <a:bodyPr wrap="square" anchor="t">
            <a:spAutoFit/>
          </a:bodyPr>
          <a:lstStyle/>
          <a:p>
            <a:pPr algn="l"/>
            <a:r>
              <a:rPr sz="1600" b="0">
                <a:solidFill>
                  <a:srgbClr val="134E4A"/>
                </a:solidFill>
              </a:rPr>
              <a:t>If you encounter any issues while using EchoMind Enterprise, refer to the troubleshooting guide below for solutions and support resources.</a:t>
            </a:r>
          </a:p>
        </p:txBody>
      </p:sp>
      <p:sp>
        <p:nvSpPr>
          <p:cNvPr id="8" name="TextBox 7"/>
          <p:cNvSpPr txBox="1"/>
          <p:nvPr/>
        </p:nvSpPr>
        <p:spPr>
          <a:xfrm>
            <a:off x="640080" y="2022855"/>
            <a:ext cx="10908792" cy="1965197"/>
          </a:xfrm>
          <a:prstGeom prst="rect">
            <a:avLst/>
          </a:prstGeom>
          <a:noFill/>
        </p:spPr>
        <p:txBody>
          <a:bodyPr wrap="square">
            <a:spAutoFit/>
          </a:bodyPr>
          <a:lstStyle/>
          <a:p>
            <a:pPr marL="274320" indent="-228600">
              <a:spcAft>
                <a:spcPts val="500"/>
              </a:spcAft>
              <a:buClr>
                <a:srgbClr val="2DD4BF"/>
              </a:buClr>
              <a:buFont typeface="Arial"/>
              <a:buChar char="▪"/>
            </a:pPr>
            <a:r>
              <a:rPr sz="1500">
                <a:solidFill>
                  <a:srgbClr val="134E4A"/>
                </a:solidFill>
              </a:rPr>
              <a:t>Check the EchoMind Enterprise system requirements to ensure your hardware and software meet the minimum specifications.</a:t>
            </a:r>
          </a:p>
          <a:p>
            <a:pPr marL="274320" indent="-228600">
              <a:spcAft>
                <a:spcPts val="500"/>
              </a:spcAft>
              <a:buClr>
                <a:srgbClr val="2DD4BF"/>
              </a:buClr>
              <a:buFont typeface="Arial"/>
              <a:buChar char="▪"/>
            </a:pPr>
            <a:r>
              <a:rPr sz="1500">
                <a:solidFill>
                  <a:srgbClr val="134E4A"/>
                </a:solidFill>
              </a:rPr>
              <a:t>Verify that your network connection is stable and secure.</a:t>
            </a:r>
          </a:p>
          <a:p>
            <a:pPr marL="274320" indent="-228600">
              <a:spcAft>
                <a:spcPts val="500"/>
              </a:spcAft>
              <a:buClr>
                <a:srgbClr val="2DD4BF"/>
              </a:buClr>
              <a:buFont typeface="Arial"/>
              <a:buChar char="▪"/>
            </a:pPr>
            <a:r>
              <a:rPr sz="1500">
                <a:solidFill>
                  <a:srgbClr val="134E4A"/>
                </a:solidFill>
              </a:rPr>
              <a:t>Ensure that the EchoMind Enterprise server is running and accessible at the correct address (http://HOST:3000 or https://HOST:3443).</a:t>
            </a:r>
          </a:p>
          <a:p>
            <a:pPr marL="274320" indent="-228600">
              <a:spcAft>
                <a:spcPts val="500"/>
              </a:spcAft>
              <a:buClr>
                <a:srgbClr val="2DD4BF"/>
              </a:buClr>
              <a:buFont typeface="Arial"/>
              <a:buChar char="▪"/>
            </a:pPr>
            <a:r>
              <a:rPr sz="1500">
                <a:solidFill>
                  <a:srgbClr val="134E4A"/>
                </a:solidFill>
              </a:rPr>
              <a:t>Restart the EchoMind Enterprise server if you experience any issues with the application.</a:t>
            </a:r>
          </a:p>
        </p:txBody>
      </p:sp>
      <p:sp>
        <p:nvSpPr>
          <p:cNvPr id="9" name="TextBox 8"/>
          <p:cNvSpPr txBox="1"/>
          <p:nvPr/>
        </p:nvSpPr>
        <p:spPr>
          <a:xfrm>
            <a:off x="640080" y="4052062"/>
            <a:ext cx="10908792" cy="1037335"/>
          </a:xfrm>
          <a:prstGeom prst="rect">
            <a:avLst/>
          </a:prstGeom>
          <a:noFill/>
        </p:spPr>
        <p:txBody>
          <a:bodyPr wrap="square" anchor="t">
            <a:spAutoFit/>
          </a:bodyPr>
          <a:lstStyle/>
          <a:p>
            <a:pPr algn="l"/>
            <a:r>
              <a:rPr sz="1600" b="0">
                <a:solidFill>
                  <a:srgbClr val="134E4A"/>
                </a:solidFill>
              </a:rPr>
              <a:t>For more detailed troubleshooting and support, please visit the EchoMind Enterprise support website at &lt;https://support.echomind.com&gt;. You can also contact our support team directly via email at &lt;support@echomind.com&gt; or by phone at +1 800 123 4567.</a:t>
            </a:r>
          </a:p>
        </p:txBody>
      </p:sp>
      <p:sp>
        <p:nvSpPr>
          <p:cNvPr id="10" name="TextBox 9"/>
          <p:cNvSpPr txBox="1"/>
          <p:nvPr/>
        </p:nvSpPr>
        <p:spPr>
          <a:xfrm>
            <a:off x="640080" y="5153406"/>
            <a:ext cx="10908792" cy="541528"/>
          </a:xfrm>
          <a:prstGeom prst="rect">
            <a:avLst/>
          </a:prstGeom>
          <a:noFill/>
        </p:spPr>
        <p:txBody>
          <a:bodyPr wrap="square" anchor="t">
            <a:spAutoFit/>
          </a:bodyPr>
          <a:lstStyle/>
          <a:p>
            <a:pPr algn="l"/>
            <a:r>
              <a:rPr sz="1600" b="0">
                <a:solidFill>
                  <a:srgbClr val="134E4A"/>
                </a:solidFill>
              </a:rPr>
              <a:t>Frequently Asked Questions (FAQs) can be found on the EchoMind Enterprise support website. Some common FAQs include:</a:t>
            </a:r>
          </a:p>
        </p:txBody>
      </p:sp>
      <p:sp>
        <p:nvSpPr>
          <p:cNvPr id="11" name="TextBox 10"/>
          <p:cNvSpPr txBox="1"/>
          <p:nvPr/>
        </p:nvSpPr>
        <p:spPr>
          <a:xfrm>
            <a:off x="640080" y="5758942"/>
            <a:ext cx="10908792" cy="351282"/>
          </a:xfrm>
          <a:prstGeom prst="rect">
            <a:avLst/>
          </a:prstGeom>
          <a:noFill/>
        </p:spPr>
        <p:txBody>
          <a:bodyPr wrap="square">
            <a:spAutoFit/>
          </a:bodyPr>
          <a:lstStyle/>
          <a:p>
            <a:pPr marL="274320" indent="-228600">
              <a:spcAft>
                <a:spcPts val="500"/>
              </a:spcAft>
              <a:buClr>
                <a:srgbClr val="2DD4BF"/>
              </a:buClr>
              <a:buFont typeface="Arial"/>
              <a:buChar char="▪"/>
            </a:pPr>
            <a:r>
              <a:rPr sz="1500">
                <a:solidFill>
                  <a:srgbClr val="134E4A"/>
                </a:solidFill>
              </a:rPr>
              <a:t>What are the system requirements for EchoMind Enterprise?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170432"/>
            <a:ext cx="2194560" cy="457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908792" cy="731520"/>
          </a:xfrm>
          <a:prstGeom prst="rect">
            <a:avLst/>
          </a:prstGeom>
          <a:noFill/>
        </p:spPr>
        <p:txBody>
          <a:bodyPr wrap="square" anchor="ctr">
            <a:spAutoFit/>
          </a:bodyPr>
          <a:lstStyle/>
          <a:p>
            <a:pPr algn="l"/>
            <a:r>
              <a:rPr sz="2800" b="1">
                <a:solidFill>
                  <a:srgbClr val="0F766E"/>
                </a:solidFill>
                <a:latin typeface="Helvetica-Bold"/>
              </a:rPr>
              <a:t>APPENDIX: Troubleshooting and Support</a:t>
            </a:r>
          </a:p>
        </p:txBody>
      </p:sp>
      <p:sp>
        <p:nvSpPr>
          <p:cNvPr id="5" name="TextBox 4"/>
          <p:cNvSpPr txBox="1"/>
          <p:nvPr/>
        </p:nvSpPr>
        <p:spPr>
          <a:xfrm>
            <a:off x="640080" y="6400800"/>
            <a:ext cx="5454396" cy="320040"/>
          </a:xfrm>
          <a:prstGeom prst="rect">
            <a:avLst/>
          </a:prstGeom>
          <a:noFill/>
        </p:spPr>
        <p:txBody>
          <a:bodyPr wrap="square" anchor="ctr">
            <a:spAutoFit/>
          </a:bodyPr>
          <a:lstStyle/>
          <a:p>
            <a:pPr algn="l"/>
            <a:r>
              <a:rPr sz="900" b="0">
                <a:solidFill>
                  <a:srgbClr val="6B7280"/>
                </a:solidFill>
              </a:rPr>
              <a:t>Ajace AI</a:t>
            </a:r>
          </a:p>
        </p:txBody>
      </p:sp>
      <p:sp>
        <p:nvSpPr>
          <p:cNvPr id="6" name="TextBox 5"/>
          <p:cNvSpPr txBox="1"/>
          <p:nvPr/>
        </p:nvSpPr>
        <p:spPr>
          <a:xfrm>
            <a:off x="6094476" y="6400800"/>
            <a:ext cx="5454396" cy="320040"/>
          </a:xfrm>
          <a:prstGeom prst="rect">
            <a:avLst/>
          </a:prstGeom>
          <a:noFill/>
        </p:spPr>
        <p:txBody>
          <a:bodyPr wrap="square" anchor="ctr">
            <a:spAutoFit/>
          </a:bodyPr>
          <a:lstStyle/>
          <a:p>
            <a:pPr algn="r"/>
            <a:r>
              <a:rPr sz="900" b="0">
                <a:solidFill>
                  <a:srgbClr val="6B7280"/>
                </a:solidFill>
              </a:rPr>
              <a:t>19</a:t>
            </a:r>
          </a:p>
        </p:txBody>
      </p:sp>
      <p:sp>
        <p:nvSpPr>
          <p:cNvPr id="7" name="TextBox 6"/>
          <p:cNvSpPr txBox="1"/>
          <p:nvPr/>
        </p:nvSpPr>
        <p:spPr>
          <a:xfrm>
            <a:off x="640080" y="1417320"/>
            <a:ext cx="10908792" cy="889253"/>
          </a:xfrm>
          <a:prstGeom prst="rect">
            <a:avLst/>
          </a:prstGeom>
          <a:noFill/>
        </p:spPr>
        <p:txBody>
          <a:bodyPr wrap="square">
            <a:spAutoFit/>
          </a:bodyPr>
          <a:lstStyle/>
          <a:p>
            <a:pPr marL="274320" indent="-228600">
              <a:spcAft>
                <a:spcPts val="500"/>
              </a:spcAft>
              <a:buClr>
                <a:srgbClr val="2DD4BF"/>
              </a:buClr>
              <a:buFont typeface="Arial"/>
              <a:buChar char="▪"/>
            </a:pPr>
            <a:r>
              <a:rPr sz="1500">
                <a:solidFill>
                  <a:srgbClr val="134E4A"/>
                </a:solidFill>
              </a:rPr>
              <a:t>How do I configure the microphone settings for Live Transcription and Voice Conversation?</a:t>
            </a:r>
          </a:p>
          <a:p>
            <a:pPr marL="274320" indent="-228600">
              <a:spcAft>
                <a:spcPts val="500"/>
              </a:spcAft>
              <a:buClr>
                <a:srgbClr val="2DD4BF"/>
              </a:buClr>
              <a:buFont typeface="Arial"/>
              <a:buChar char="▪"/>
            </a:pPr>
            <a:r>
              <a:rPr sz="1500">
                <a:solidFill>
                  <a:srgbClr val="134E4A"/>
                </a:solidFill>
              </a:rPr>
              <a:t>Can I customize the user interface of EchoMind Enterprise?</a:t>
            </a:r>
          </a:p>
        </p:txBody>
      </p:sp>
      <p:sp>
        <p:nvSpPr>
          <p:cNvPr id="8" name="TextBox 7"/>
          <p:cNvSpPr txBox="1"/>
          <p:nvPr/>
        </p:nvSpPr>
        <p:spPr>
          <a:xfrm>
            <a:off x="640080" y="2370582"/>
            <a:ext cx="10908792" cy="789432"/>
          </a:xfrm>
          <a:prstGeom prst="rect">
            <a:avLst/>
          </a:prstGeom>
          <a:noFill/>
        </p:spPr>
        <p:txBody>
          <a:bodyPr wrap="square" anchor="t">
            <a:spAutoFit/>
          </a:bodyPr>
          <a:lstStyle/>
          <a:p>
            <a:pPr algn="l"/>
            <a:r>
              <a:rPr sz="1600" b="0">
                <a:solidFill>
                  <a:srgbClr val="134E4A"/>
                </a:solidFill>
              </a:rPr>
              <a:t>If you have any further questions or concerns, please don't hesitate to reach out to our support team. We're here to help you get the most out of EchoMind Enterprise.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42F2E"/>
        </a:solidFill>
        <a:effectLst/>
      </p:bgPr>
    </p:bg>
    <p:spTree>
      <p:nvGrpSpPr>
        <p:cNvPr id="1" name=""/>
        <p:cNvGrpSpPr/>
        <p:nvPr/>
      </p:nvGrpSpPr>
      <p:grpSpPr/>
      <p:sp>
        <p:nvSpPr>
          <p:cNvPr id="2" name="TextBox 1"/>
          <p:cNvSpPr txBox="1"/>
          <p:nvPr/>
        </p:nvSpPr>
        <p:spPr>
          <a:xfrm>
            <a:off x="640080" y="2377440"/>
            <a:ext cx="10908792" cy="1463040"/>
          </a:xfrm>
          <a:prstGeom prst="rect">
            <a:avLst/>
          </a:prstGeom>
          <a:noFill/>
        </p:spPr>
        <p:txBody>
          <a:bodyPr wrap="square" anchor="ctr">
            <a:spAutoFit/>
          </a:bodyPr>
          <a:lstStyle/>
          <a:p>
            <a:pPr algn="ctr"/>
            <a:r>
              <a:rPr sz="5200" b="1">
                <a:solidFill>
                  <a:srgbClr val="FFFFFF"/>
                </a:solidFill>
                <a:latin typeface="Helvetica-Bold"/>
              </a:rPr>
              <a:t>Thank you</a:t>
            </a:r>
          </a:p>
        </p:txBody>
      </p:sp>
      <p:sp>
        <p:nvSpPr>
          <p:cNvPr id="3" name="Rectangle 2"/>
          <p:cNvSpPr/>
          <p:nvPr/>
        </p:nvSpPr>
        <p:spPr>
          <a:xfrm>
            <a:off x="4905756" y="3931920"/>
            <a:ext cx="2377440" cy="54864"/>
          </a:xfrm>
          <a:prstGeom prst="rect">
            <a:avLst/>
          </a:prstGeom>
          <a:solidFill>
            <a:srgbClr val="5E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60520"/>
            <a:ext cx="10908792" cy="640080"/>
          </a:xfrm>
          <a:prstGeom prst="rect">
            <a:avLst/>
          </a:prstGeom>
          <a:noFill/>
        </p:spPr>
        <p:txBody>
          <a:bodyPr wrap="square">
            <a:spAutoFit/>
          </a:bodyPr>
          <a:lstStyle/>
          <a:p>
            <a:pPr algn="ctr"/>
            <a:r>
              <a:rPr sz="1800" b="0">
                <a:solidFill>
                  <a:srgbClr val="FFFFFF"/>
                </a:solidFill>
              </a:rPr>
              <a:t>Ajace 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